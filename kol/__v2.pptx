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61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各位老師好,我是師大資工系的施博瀚。今天報告的專題是『中文財經 KOL 觀點抽取與結構化建模』——目標是把網紅的自由文本,做成可回測、可重現的結構化資料。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台灣股市散戶佔成交量約一半,KOL 對散戶決策影響很大。KOL 比散戶更早解讀公開資訊,散戶慢半拍跟進,中間存在時間差的 edge。但 KOL 發文是自由文本,下游量化無法直接用。所以核心問題是:如何把中文財經 KOL 的自由文本,轉為標準化、可回測的結構化資料。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既有做法各有缺口。通用情感分析太粗;財經新聞 NLP 是媒體落後指標;英文社群量化研究不適用中文市場;直接用 LLM 評分無法重現無法校準。缺的是標準化 schema、穩定抽取方法、下游驗證這三件事同時解決的方法論。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方法分三步驟。抽取:LLM 作為 formatter,輸入自由文本輸出 4 欄位 JSON。校準:對每個候選 KOL 跑 WFA,算出 out-of-sample 的 WFE 分數作為 weight。驗證:用這份結構化資料建因子,量測對 Alpha101 的 incremental IC。定位上採資訊擴散假說——KOL 比散戶早解讀公開資訊,我們交易的是這個時間差。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實驗三層。層 1 測抽取品質,方向分類 F1 ≥ 0.75、消歧 accuracy ≥ 0.90。層 2 測 KOL 篩選,用 WFE &gt; 0.5 當門檻,預期通過 8 到 15 位。層 3 測下游價值,incremental IC baseline 目標 0.03、stretch 0.05。實驗分三 Phase:先台積電單標的、再權值股前 5、最後跨板塊 30 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已經跑過 PoC:三位 FB KOL 共約 878 筆貼文,加上一個 Podcast。以巴逆逆 305 筆預測做 5 日 OHLC 統計,hit rate 0.439 p=0.039 顯著反向——意思是順著她做勝率約 56%,確認有 edge。主要風險是 WFE 門檻可能導入 look-ahead,用時光機原則嚴格時序切分。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本專題目標是做完整方法論。三個 contribution 各自獨立可交付:C1 是資料面的 schema 與標註資料集,C2 是方法面的 LLM-as-Formatter 架構,C3 是實證面的 WFA 驗證框架。三項交付物分別是結構化資料集、方法論 pipeline、以及完整回測實證報告。謝謝老師。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6999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12382499" y="-1143000"/>
            <a:ext cx="6667499" cy="6667499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5999" y="7238999"/>
            <a:ext cx="4000500" cy="40005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625148"/>
            <a:ext cx="16874489" cy="39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師大資工 ／ 專題評審報告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287839"/>
            <a:ext cx="11772899" cy="188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中文財經 KOL 觀點抽取與結構化建模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52500" y="5436646"/>
            <a:ext cx="10791824" cy="952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Financial KOL Opinion Extraction and Structured Modeling for Downstream Quantitative Research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6808029"/>
            <a:ext cx="3006493" cy="39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講者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" y="7223034"/>
            <a:ext cx="3006493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施博瀚（Stan Shih）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28553" y="6808029"/>
            <a:ext cx="1600200" cy="39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系所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328553" y="7223034"/>
            <a:ext cx="1600200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師大資工系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681" y="6808029"/>
            <a:ext cx="1776448" cy="39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309681" y="7223034"/>
            <a:ext cx="1776448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4 月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761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09474"/>
            <a:ext cx="92364" cy="59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311564" y="609474"/>
            <a:ext cx="1651542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中文財經 KOL 的觀點，缺乏可量化的結構化資料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1508576"/>
            <a:ext cx="9524999" cy="2282572"/>
          </a:xfrm>
          <a:prstGeom prst="roundRect">
            <a:avLst>
              <a:gd name="adj" fmla="val 6677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09628" y="1975626"/>
            <a:ext cx="2091603" cy="952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409628" y="2966189"/>
            <a:ext cx="2091603" cy="39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散戶佔台股成交量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806031" y="2268862"/>
            <a:ext cx="19032" cy="7620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206063" y="1889576"/>
            <a:ext cx="5988738" cy="1558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 發文是影響散戶決策的</a:t>
            </a: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重要來源 </a:t>
            </a: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 比散戶</a:t>
            </a: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更早解讀公開資訊 </a:t>
            </a: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，存在時間差 edge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" y="4057776"/>
            <a:ext cx="9524999" cy="5543351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2500" y="4057776"/>
            <a:ext cx="9524999" cy="5195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4452576"/>
            <a:ext cx="9025889" cy="44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為什麼這是個研究問題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3500" y="5052940"/>
            <a:ext cx="381072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90718" y="5052940"/>
            <a:ext cx="4081402" cy="518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</a:t>
            </a: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爬蟲問題</a:t>
            </a: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（爬蟲已可做）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33500" y="5666473"/>
            <a:ext cx="381072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90718" y="5666473"/>
            <a:ext cx="6592991" cy="518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</a:t>
            </a: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情感分析問題</a:t>
            </a: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（太粗，無法對應交易決策）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33500" y="6280005"/>
            <a:ext cx="296646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06292" y="6280005"/>
            <a:ext cx="7505966" cy="518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欄位設計 × 抽取方法 × 下游驗證</a:t>
            </a: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的完整方法論問題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858499" y="1508576"/>
            <a:ext cx="6476999" cy="2301243"/>
          </a:xfrm>
          <a:prstGeom prst="roundRect">
            <a:avLst>
              <a:gd name="adj" fmla="val 4967"/>
            </a:avLst>
          </a:prstGeom>
          <a:solidFill>
            <a:srgbClr val="FEF3C7"/>
          </a:solidFill>
          <a:ln w="17318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80599" y="1754458"/>
            <a:ext cx="6007783" cy="38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本專題要回答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80599" y="2198327"/>
            <a:ext cx="3272945" cy="47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如何把中文財經 KOL 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358215" y="2198327"/>
            <a:ext cx="1295418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自由文本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577433" y="2198327"/>
            <a:ext cx="381072" cy="47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180599" y="2655454"/>
            <a:ext cx="990636" cy="47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轉為具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095035" y="2655454"/>
            <a:ext cx="2246745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 schema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265580" y="2655454"/>
            <a:ext cx="685855" cy="47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、可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875235" y="2655454"/>
            <a:ext cx="1295418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回測驗證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1180599" y="2655454"/>
            <a:ext cx="6003138" cy="933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的結構化資料？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0858499" y="4076447"/>
            <a:ext cx="6476999" cy="55246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239499" y="4419293"/>
            <a:ext cx="5886449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資訊擴散假說（第二類機制）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1239499" y="5034630"/>
            <a:ext cx="419064" cy="41906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2" name="Text 30"/>
          <p:cNvSpPr/>
          <p:nvPr/>
        </p:nvSpPr>
        <p:spPr>
          <a:xfrm>
            <a:off x="11201399" y="5034630"/>
            <a:ext cx="495264" cy="457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49063" y="5050775"/>
            <a:ext cx="2274346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 解讀公開資訊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1449031" y="5606039"/>
            <a:ext cx="23091" cy="2666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39499" y="6025013"/>
            <a:ext cx="419064" cy="419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11201399" y="6025013"/>
            <a:ext cx="495264" cy="457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49063" y="6041159"/>
            <a:ext cx="1943136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散戶慢半拍接收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449031" y="6596423"/>
            <a:ext cx="23091" cy="2666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Shape 37"/>
          <p:cNvSpPr/>
          <p:nvPr/>
        </p:nvSpPr>
        <p:spPr>
          <a:xfrm>
            <a:off x="11239499" y="7015397"/>
            <a:ext cx="419064" cy="419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11201399" y="7015397"/>
            <a:ext cx="495264" cy="457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849063" y="7031542"/>
            <a:ext cx="3852949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時間差 edge ← 我們要量化這個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761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09474"/>
            <a:ext cx="92364" cy="59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311564" y="609474"/>
            <a:ext cx="1651542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既有研究與工具的共同缺口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1508576"/>
            <a:ext cx="9334499" cy="8092551"/>
          </a:xfrm>
          <a:prstGeom prst="roundRect">
            <a:avLst>
              <a:gd name="adj" fmla="val 1883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2500" y="1508576"/>
            <a:ext cx="3547070" cy="70066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1680026"/>
            <a:ext cx="3196282" cy="395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既有做法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499570" y="1508576"/>
            <a:ext cx="5787429" cy="70066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4728170" y="1680026"/>
            <a:ext cx="5503852" cy="395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缺口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4424164"/>
            <a:ext cx="354707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2361641"/>
            <a:ext cx="3196282" cy="1948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通用情感分析 </a:t>
            </a: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 / 負 / 中性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499570" y="4424164"/>
            <a:ext cx="5787429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4728170" y="2361641"/>
            <a:ext cx="5503852" cy="1948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欄位太粗，無法對應交易決策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" y="4429937"/>
            <a:ext cx="3547070" cy="1475112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5899276"/>
            <a:ext cx="354707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4582337"/>
            <a:ext cx="3196282" cy="1202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財經新聞 NLP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499570" y="4429937"/>
            <a:ext cx="5787429" cy="1475112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499570" y="5899276"/>
            <a:ext cx="5787429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4728170" y="4582337"/>
            <a:ext cx="5503852" cy="1202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媒體是落後指標，風格與 KOL 不同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8126286"/>
            <a:ext cx="354707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6057449"/>
            <a:ext cx="3196282" cy="1954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英文社群量化 </a:t>
            </a: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/ Twitter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499570" y="8126286"/>
            <a:ext cx="5787429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4728170" y="6057449"/>
            <a:ext cx="5503852" cy="1954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中文財經缺少對等方法論與資料集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2500" y="8132058"/>
            <a:ext cx="3547070" cy="1469069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8284458"/>
            <a:ext cx="3196282" cy="120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直接評分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4499570" y="8132058"/>
            <a:ext cx="5787429" cy="1469069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28170" y="8284458"/>
            <a:ext cx="5503852" cy="120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輸出不可回測、confidence 不可靠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667999" y="1508576"/>
            <a:ext cx="6867524" cy="50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缺的三件事，要同時解決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10667999" y="2204731"/>
            <a:ext cx="6667499" cy="1346940"/>
          </a:xfrm>
          <a:prstGeom prst="roundRect">
            <a:avLst>
              <a:gd name="adj" fmla="val 11315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972781" y="2471358"/>
            <a:ext cx="495282" cy="495282"/>
          </a:xfrm>
          <a:prstGeom prst="roundRect">
            <a:avLst>
              <a:gd name="adj" fmla="val 23078"/>
            </a:avLst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10934681" y="2471358"/>
            <a:ext cx="571482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696627" y="2471358"/>
            <a:ext cx="3316052" cy="44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 Schema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1696627" y="2938318"/>
            <a:ext cx="3316052" cy="384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能對應交易決策的最小欄位集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667999" y="3742170"/>
            <a:ext cx="6667499" cy="1346940"/>
          </a:xfrm>
          <a:prstGeom prst="roundRect">
            <a:avLst>
              <a:gd name="adj" fmla="val 11315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972781" y="4008798"/>
            <a:ext cx="495282" cy="495282"/>
          </a:xfrm>
          <a:prstGeom prst="roundRect">
            <a:avLst>
              <a:gd name="adj" fmla="val 23078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10934681" y="4008798"/>
            <a:ext cx="571482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1696627" y="4008798"/>
            <a:ext cx="2862862" cy="44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穩定抽取方法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1696627" y="4475758"/>
            <a:ext cx="2862862" cy="384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輸出可重現、可校準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667999" y="5279610"/>
            <a:ext cx="6667499" cy="1346940"/>
          </a:xfrm>
          <a:prstGeom prst="roundRect">
            <a:avLst>
              <a:gd name="adj" fmla="val 11315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972781" y="5546238"/>
            <a:ext cx="495282" cy="495282"/>
          </a:xfrm>
          <a:prstGeom prst="roundRect">
            <a:avLst>
              <a:gd name="adj" fmla="val 23078"/>
            </a:avLst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10934681" y="5546238"/>
            <a:ext cx="571482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1696627" y="5546238"/>
            <a:ext cx="4521213" cy="44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下游驗證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11696627" y="6013197"/>
            <a:ext cx="4521213" cy="384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這套資料對量化因子有 incremental 貢獻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0667999" y="8737834"/>
            <a:ext cx="6667499" cy="863293"/>
          </a:xfrm>
          <a:prstGeom prst="roundRect">
            <a:avLst>
              <a:gd name="adj" fmla="val 13240"/>
            </a:avLst>
          </a:prstGeom>
          <a:solidFill>
            <a:srgbClr val="DBEAFE"/>
          </a:solidFill>
          <a:ln w="17318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90117" y="8983752"/>
            <a:ext cx="6223288" cy="409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DBEA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本研究要</a:t>
            </a: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同時解決這三點</a:t>
            </a:r>
            <a:r>
              <a:rPr lang="en-US" sz="1950" dirty="0">
                <a:solidFill>
                  <a:srgbClr val="1E3A8A"/>
                </a:solidFill>
                <a:highlight>
                  <a:srgbClr val="DBEA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，構成完整方法論。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761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533256"/>
            <a:ext cx="8528848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三步驟 Pipeline — 抽取、校準、驗證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461499" y="608752"/>
            <a:ext cx="1485756" cy="44323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32949" y="665902"/>
            <a:ext cx="1219056" cy="36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方法論核心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798600"/>
            <a:ext cx="2254250" cy="1123156"/>
          </a:xfrm>
          <a:prstGeom prst="roundRect">
            <a:avLst>
              <a:gd name="adj" fmla="val 10177"/>
            </a:avLst>
          </a:prstGeom>
          <a:solidFill>
            <a:srgbClr val="FFFFFF"/>
          </a:solidFill>
          <a:ln w="17318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0318" y="3006418"/>
            <a:ext cx="1838614" cy="74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1E3A8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KOL 原始發文 </a:t>
            </a: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 / 語音字幕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3321050" y="3161019"/>
            <a:ext cx="419100" cy="43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3778250" y="2625057"/>
            <a:ext cx="2254250" cy="1470241"/>
          </a:xfrm>
          <a:prstGeom prst="roundRect">
            <a:avLst>
              <a:gd name="adj" fmla="val 7774"/>
            </a:avLst>
          </a:prstGeom>
          <a:solidFill>
            <a:srgbClr val="FEF3C7"/>
          </a:solidFill>
          <a:ln w="17318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86068" y="2832875"/>
            <a:ext cx="1838614" cy="1092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92400E"/>
                </a:solidFill>
                <a:highlight>
                  <a:srgbClr val="FEF3C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LLM 格式化抽取 </a:t>
            </a:r>
            <a:r>
              <a:rPr lang="en-US" sz="1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Formatter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146800" y="3161019"/>
            <a:ext cx="419100" cy="43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604000" y="2798600"/>
            <a:ext cx="2254250" cy="1123156"/>
          </a:xfrm>
          <a:prstGeom prst="roundRect">
            <a:avLst>
              <a:gd name="adj" fmla="val 10177"/>
            </a:avLst>
          </a:prstGeom>
          <a:solidFill>
            <a:srgbClr val="FFFFFF"/>
          </a:solidFill>
          <a:ln w="17318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1818" y="3006418"/>
            <a:ext cx="1838614" cy="74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1E3A8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 欄位 JSON </a:t>
            </a: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結構化資料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8972549" y="3161019"/>
            <a:ext cx="419100" cy="43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429749" y="2798600"/>
            <a:ext cx="2254250" cy="1123156"/>
          </a:xfrm>
          <a:prstGeom prst="roundRect">
            <a:avLst>
              <a:gd name="adj" fmla="val 10177"/>
            </a:avLst>
          </a:prstGeom>
          <a:solidFill>
            <a:srgbClr val="FEF3C7"/>
          </a:solidFill>
          <a:ln w="17318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7568" y="3006418"/>
            <a:ext cx="1838614" cy="74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92400E"/>
                </a:solidFill>
                <a:highlight>
                  <a:srgbClr val="FEF3C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WFA 回測 </a:t>
            </a:r>
            <a:r>
              <a:rPr lang="en-US" sz="1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計算 WFE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798300" y="3161019"/>
            <a:ext cx="419100" cy="43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2255500" y="2978817"/>
            <a:ext cx="2254250" cy="762722"/>
          </a:xfrm>
          <a:prstGeom prst="roundRect">
            <a:avLst>
              <a:gd name="adj" fmla="val 14986"/>
            </a:avLst>
          </a:prstGeom>
          <a:solidFill>
            <a:srgbClr val="FFFFFF"/>
          </a:solidFill>
          <a:ln w="17318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63318" y="3186635"/>
            <a:ext cx="1838614" cy="385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 權重填入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4624049" y="3161019"/>
            <a:ext cx="419100" cy="43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15081249" y="2798600"/>
            <a:ext cx="2254250" cy="1123156"/>
          </a:xfrm>
          <a:prstGeom prst="roundRect">
            <a:avLst>
              <a:gd name="adj" fmla="val 10177"/>
            </a:avLst>
          </a:prstGeom>
          <a:solidFill>
            <a:srgbClr val="1E3A8A"/>
          </a:solidFill>
          <a:ln w="17318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289067" y="3006418"/>
            <a:ext cx="1838614" cy="74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highlight>
                  <a:srgbClr val="1E3A8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下游量化驗證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IC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952500" y="4957601"/>
            <a:ext cx="9356778" cy="4008257"/>
          </a:xfrm>
          <a:prstGeom prst="roundRect">
            <a:avLst>
              <a:gd name="adj" fmla="val 3327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282" y="5325252"/>
            <a:ext cx="9009631" cy="449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核心 Schema — 4 欄位 JSON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57282" y="5831899"/>
            <a:ext cx="9009631" cy="48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523910" y="6372911"/>
            <a:ext cx="1885950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"timestamp"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3428910" y="6372911"/>
            <a:ext cx="145022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3592981" y="6372911"/>
            <a:ext cx="3421963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"2026-03-15T09:00:00+08:00"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086653" y="6396002"/>
            <a:ext cx="1702846" cy="426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KOL 發文時間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23910" y="6793960"/>
            <a:ext cx="1885950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"id"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3428910" y="6793960"/>
            <a:ext cx="145022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3592981" y="6793960"/>
            <a:ext cx="803022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"2330"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4491181" y="6817051"/>
            <a:ext cx="2575881" cy="426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標的代號（實體消歧）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23910" y="7215008"/>
            <a:ext cx="1885950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"direction"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3428910" y="7215008"/>
            <a:ext cx="145022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3592981" y="7215008"/>
            <a:ext cx="213934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3902093" y="7238099"/>
            <a:ext cx="2353090" cy="426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-1 空 / 0 觀望 / +1 多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23910" y="7636056"/>
            <a:ext cx="1885950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"weight"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3428910" y="7636056"/>
            <a:ext cx="145022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3592981" y="7636056"/>
            <a:ext cx="558223" cy="45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4246382" y="7659147"/>
            <a:ext cx="2337756" cy="426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KOL 歷史 WFE 分數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57282" y="8152354"/>
            <a:ext cx="9009631" cy="48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0652124" y="4957601"/>
            <a:ext cx="6883876" cy="44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三個關鍵設計決定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10652124" y="5557965"/>
            <a:ext cx="6683375" cy="1211010"/>
          </a:xfrm>
          <a:prstGeom prst="roundRect">
            <a:avLst>
              <a:gd name="adj" fmla="val 12585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918752" y="5786529"/>
            <a:ext cx="419064" cy="419064"/>
          </a:xfrm>
          <a:prstGeom prst="roundRect">
            <a:avLst>
              <a:gd name="adj" fmla="val 22729"/>
            </a:avLst>
          </a:prstGeom>
          <a:solidFill>
            <a:srgbClr val="1E3A8A"/>
          </a:solidFill>
          <a:ln/>
        </p:spPr>
      </p:sp>
      <p:sp>
        <p:nvSpPr>
          <p:cNvPr id="46" name="Text 44"/>
          <p:cNvSpPr/>
          <p:nvPr/>
        </p:nvSpPr>
        <p:spPr>
          <a:xfrm>
            <a:off x="10880652" y="5786529"/>
            <a:ext cx="495264" cy="457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1528316" y="5786529"/>
            <a:ext cx="3767383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作為 Formatter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1528316" y="6211365"/>
            <a:ext cx="3767383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只輸出方向，評分外部化給歷史表現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652124" y="6959475"/>
            <a:ext cx="6683375" cy="1211010"/>
          </a:xfrm>
          <a:prstGeom prst="roundRect">
            <a:avLst>
              <a:gd name="adj" fmla="val 12585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0918752" y="7188039"/>
            <a:ext cx="419064" cy="419064"/>
          </a:xfrm>
          <a:prstGeom prst="roundRect">
            <a:avLst>
              <a:gd name="adj" fmla="val 22729"/>
            </a:avLst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10880652" y="7188039"/>
            <a:ext cx="495264" cy="457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528316" y="7188039"/>
            <a:ext cx="3793397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KOL 歷史 WFE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11528316" y="7612875"/>
            <a:ext cx="3793397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 WFE → 高權重；低 WFE → 剔除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652124" y="8360985"/>
            <a:ext cx="6683375" cy="1262964"/>
          </a:xfrm>
          <a:prstGeom prst="roundRect">
            <a:avLst>
              <a:gd name="adj" fmla="val 12067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652124" y="8360985"/>
            <a:ext cx="6683375" cy="5195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18752" y="8641503"/>
            <a:ext cx="419064" cy="419064"/>
          </a:xfrm>
          <a:prstGeom prst="roundRect">
            <a:avLst>
              <a:gd name="adj" fmla="val 22729"/>
            </a:avLst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10880652" y="8641503"/>
            <a:ext cx="495264" cy="457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1528316" y="8641503"/>
            <a:ext cx="3654225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資訊擴散假說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11528316" y="9066340"/>
            <a:ext cx="3654225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不假設內線，只假設 KOL 解讀更早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761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09474"/>
            <a:ext cx="92364" cy="59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311564" y="609474"/>
            <a:ext cx="1651542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三層驗證實驗設計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1508576"/>
            <a:ext cx="9870822" cy="2683326"/>
          </a:xfrm>
          <a:prstGeom prst="roundRect">
            <a:avLst>
              <a:gd name="adj" fmla="val 5680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5346" y="1813358"/>
            <a:ext cx="495282" cy="49528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1257246" y="1813358"/>
            <a:ext cx="571482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42974" y="1841590"/>
            <a:ext cx="1905072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抽取品質驗證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38133" y="1839335"/>
            <a:ext cx="1942342" cy="443237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709583" y="1896485"/>
            <a:ext cx="1675642" cy="36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筆人工標註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346" y="2460986"/>
            <a:ext cx="9460684" cy="830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方向分類 F1（-1 / 0 / +1）、標的消歧 accuracy（台積 ≡ 2330 ≡ TSMC）、多模型 cross-check 一致率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95346" y="3405819"/>
            <a:ext cx="1369760" cy="481301"/>
          </a:xfrm>
          <a:prstGeom prst="roundRect">
            <a:avLst>
              <a:gd name="adj" fmla="val 15832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746" y="3482019"/>
            <a:ext cx="1141160" cy="367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≥ 0.75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817452" y="3405819"/>
            <a:ext cx="2591684" cy="481301"/>
          </a:xfrm>
          <a:prstGeom prst="roundRect">
            <a:avLst>
              <a:gd name="adj" fmla="val 15832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2969852" y="3482019"/>
            <a:ext cx="2364634" cy="367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消歧 accuracy ≥ 0.90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61481" y="3405819"/>
            <a:ext cx="3150827" cy="481301"/>
          </a:xfrm>
          <a:prstGeom prst="roundRect">
            <a:avLst>
              <a:gd name="adj" fmla="val 15832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5713881" y="3482019"/>
            <a:ext cx="2940551" cy="367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同意率 ≥ 0.85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4382402"/>
            <a:ext cx="9870822" cy="2683326"/>
          </a:xfrm>
          <a:prstGeom prst="roundRect">
            <a:avLst>
              <a:gd name="adj" fmla="val 5680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95346" y="4687184"/>
            <a:ext cx="495282" cy="49528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246" y="4687184"/>
            <a:ext cx="571482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942974" y="4715416"/>
            <a:ext cx="3396972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 篩選（WFA/WFE）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519733" y="4713161"/>
            <a:ext cx="1960743" cy="443237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8691183" y="4770311"/>
            <a:ext cx="1694043" cy="36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Out-of-sample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95346" y="5334812"/>
            <a:ext cx="9460684" cy="830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收集候選 KOL 18+ 個月歷史，跑 Walk-Forward Analysis，計算 WFE（out-of-sample / in-sample 穩健比率）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95346" y="6279645"/>
            <a:ext cx="2072770" cy="481301"/>
          </a:xfrm>
          <a:prstGeom prst="roundRect">
            <a:avLst>
              <a:gd name="adj" fmla="val 15832"/>
            </a:avLst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1447746" y="6355845"/>
            <a:ext cx="1920370" cy="405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WFE &gt; 0.5 入池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869015" y="6279645"/>
            <a:ext cx="2072770" cy="481301"/>
          </a:xfrm>
          <a:prstGeom prst="roundRect">
            <a:avLst>
              <a:gd name="adj" fmla="val 15832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4021415" y="6355845"/>
            <a:ext cx="1844170" cy="367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預期通過 8–15 位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500" y="7256227"/>
            <a:ext cx="9870822" cy="2683326"/>
          </a:xfrm>
          <a:prstGeom prst="roundRect">
            <a:avLst>
              <a:gd name="adj" fmla="val 5680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2500" y="7256227"/>
            <a:ext cx="51955" cy="268332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1347300" y="7561009"/>
            <a:ext cx="495282" cy="49528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309200" y="7561009"/>
            <a:ext cx="571482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994928" y="7589241"/>
            <a:ext cx="1905072" cy="476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下游量化驗證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223284" y="7586987"/>
            <a:ext cx="1257192" cy="44323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9394734" y="7644137"/>
            <a:ext cx="990492" cy="36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47300" y="8208637"/>
            <a:ext cx="9407171" cy="830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 因子 IC、對 Alpha101 的 incremental IC、Deflated Sharpe ≥ 0.8（扣除 multiple-testing bias）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347300" y="9153470"/>
            <a:ext cx="3712044" cy="481301"/>
          </a:xfrm>
          <a:prstGeom prst="roundRect">
            <a:avLst>
              <a:gd name="adj" fmla="val 15832"/>
            </a:avLst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1499700" y="9229670"/>
            <a:ext cx="3518605" cy="367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incremental IC ≥ 0.03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211690" y="9153470"/>
            <a:ext cx="1903557" cy="481301"/>
          </a:xfrm>
          <a:prstGeom prst="roundRect">
            <a:avLst>
              <a:gd name="adj" fmla="val 15832"/>
            </a:avLst>
          </a:prstGeom>
          <a:solidFill>
            <a:srgbClr val="FEF3C7"/>
          </a:solidFill>
          <a:ln/>
        </p:spPr>
      </p:sp>
      <p:sp>
        <p:nvSpPr>
          <p:cNvPr id="40" name="Text 38"/>
          <p:cNvSpPr/>
          <p:nvPr/>
        </p:nvSpPr>
        <p:spPr>
          <a:xfrm>
            <a:off x="5364090" y="9229670"/>
            <a:ext cx="1674957" cy="367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≥ 0.05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166167" y="1508576"/>
            <a:ext cx="6354411" cy="44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分階段執行計畫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11166167" y="2147003"/>
            <a:ext cx="6169331" cy="7454123"/>
          </a:xfrm>
          <a:prstGeom prst="roundRect">
            <a:avLst>
              <a:gd name="adj" fmla="val 2470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1547167" y="2489849"/>
            <a:ext cx="457128" cy="45712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4" name="Text 42"/>
          <p:cNvSpPr/>
          <p:nvPr/>
        </p:nvSpPr>
        <p:spPr>
          <a:xfrm>
            <a:off x="11509067" y="2489849"/>
            <a:ext cx="533328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2194795" y="2565977"/>
            <a:ext cx="2782114" cy="413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月 4 完成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12194795" y="2979268"/>
            <a:ext cx="2465117" cy="69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台積電單標的 PoC 基礎建設驗證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1547167" y="3903987"/>
            <a:ext cx="457128" cy="4571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11509067" y="3903987"/>
            <a:ext cx="533328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2194795" y="3980115"/>
            <a:ext cx="2907243" cy="413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月 6 完成</a:t>
            </a:r>
            <a:endParaRPr lang="en-US" sz="2025" dirty="0"/>
          </a:p>
        </p:txBody>
      </p:sp>
      <p:sp>
        <p:nvSpPr>
          <p:cNvPr id="50" name="Text 48"/>
          <p:cNvSpPr/>
          <p:nvPr/>
        </p:nvSpPr>
        <p:spPr>
          <a:xfrm>
            <a:off x="12194795" y="4393406"/>
            <a:ext cx="2465117" cy="69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擴展至權值股前 5 檔 多 KOL 驗證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1547167" y="5318125"/>
            <a:ext cx="457128" cy="4571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11509067" y="5318125"/>
            <a:ext cx="533328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2194795" y="5394253"/>
            <a:ext cx="2591395" cy="413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月 8 完成</a:t>
            </a:r>
            <a:endParaRPr lang="en-US" sz="2025" dirty="0"/>
          </a:p>
        </p:txBody>
      </p:sp>
      <p:sp>
        <p:nvSpPr>
          <p:cNvPr id="54" name="Text 52"/>
          <p:cNvSpPr/>
          <p:nvPr/>
        </p:nvSpPr>
        <p:spPr>
          <a:xfrm>
            <a:off x="12194795" y="5807544"/>
            <a:ext cx="2591395" cy="69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檔跨板塊 完整 incremental IC 報告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761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533256"/>
            <a:ext cx="7935094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跨 3 KOL · 1,685 筆觀點驗證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885038" y="608752"/>
            <a:ext cx="2369073" cy="443237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9056488" y="665902"/>
            <a:ext cx="2102373" cy="36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2024-04 ~ 2026-04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1318076"/>
            <a:ext cx="9382551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三種訊號策略累積報酬曲線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1857194"/>
            <a:ext cx="9109273" cy="6432982"/>
          </a:xfrm>
          <a:prstGeom prst="roundRect">
            <a:avLst>
              <a:gd name="adj" fmla="val 2369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1857194"/>
            <a:ext cx="9109273" cy="64329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28401" y="1318076"/>
            <a:ext cx="7217311" cy="42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三策略評估（順向，全樣本）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328401" y="1857194"/>
            <a:ext cx="2259481" cy="199501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404582" y="2047694"/>
            <a:ext cx="2107117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Baseline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04582" y="2345531"/>
            <a:ext cx="2107117" cy="64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54.3%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10404582" y="2951668"/>
            <a:ext cx="2107117" cy="55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rate · Sharpe +1.11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702164" y="1857194"/>
            <a:ext cx="2259572" cy="199501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2778346" y="2047694"/>
            <a:ext cx="2107208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WFE-weighted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778346" y="2345531"/>
            <a:ext cx="2107208" cy="64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55.0%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12778346" y="2951668"/>
            <a:ext cx="2107208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+0.097 ↑ 2.1×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5076017" y="1857194"/>
            <a:ext cx="2259481" cy="199501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5076017" y="1857194"/>
            <a:ext cx="2259481" cy="5195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15152200" y="2099649"/>
            <a:ext cx="2107117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Filter w&gt;0.55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152200" y="2397486"/>
            <a:ext cx="2107117" cy="64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57.9%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15152200" y="3003622"/>
            <a:ext cx="2107117" cy="69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+1.65 ★ 最優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328401" y="4004559"/>
            <a:ext cx="7217311" cy="396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 weight → 高 hit rate（WFE 預測力驗證）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0328401" y="4514814"/>
            <a:ext cx="7007098" cy="3775363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28401" y="4514814"/>
            <a:ext cx="7007098" cy="3775363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952500" y="8480677"/>
            <a:ext cx="16382999" cy="1120450"/>
          </a:xfrm>
          <a:prstGeom prst="roundRect">
            <a:avLst>
              <a:gd name="adj" fmla="val 10201"/>
            </a:avLst>
          </a:prstGeom>
          <a:solidFill>
            <a:srgbClr val="FEF3C7"/>
          </a:solidFill>
          <a:ln w="17318">
            <a:solidFill>
              <a:srgbClr val="F59E0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274618" y="8669445"/>
            <a:ext cx="16230252" cy="781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三個策略 hit rate 皆顯著（p &lt; 0.01）</a:t>
            </a:r>
            <a:r>
              <a:rPr lang="en-US" sz="1950" b="1" dirty="0">
                <a:solidFill>
                  <a:srgbClr val="0F172A"/>
                </a:solidFill>
                <a:highlight>
                  <a:srgbClr val="FEF3C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，WFE 加權使 IC 提升 2.1 倍；Confidence filter 砍掉 61% 交易但 Sharpe 提升 +49%，Max DD 改善 —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品質壓倒數量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6999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7999" cy="761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533256"/>
            <a:ext cx="92364" cy="59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311564" y="533256"/>
            <a:ext cx="1651542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 Contribution，三項交付物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52500" y="1356140"/>
            <a:ext cx="5308564" cy="6602105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1E3A8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2500" y="1356140"/>
            <a:ext cx="5308564" cy="7504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1219128" y="1659749"/>
            <a:ext cx="708223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1984465" y="1685726"/>
            <a:ext cx="990564" cy="443237"/>
          </a:xfrm>
          <a:prstGeom prst="roundRect">
            <a:avLst>
              <a:gd name="adj" fmla="val 17192"/>
            </a:avLst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2136865" y="1742876"/>
            <a:ext cx="761964" cy="36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128" y="2269313"/>
            <a:ext cx="4918567" cy="78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中文財經 KOL 觀點抽取 Schema ＋ 標註資料集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19128" y="3126473"/>
            <a:ext cx="4918567" cy="4039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定義最小充分的 </a:t>
            </a:r>
            <a:r>
              <a:rPr lang="en-US" sz="18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欄位 schema </a:t>
            </a: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自建人工標註資料集（約 500 筆 KOL 貼文）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19128" y="7242517"/>
            <a:ext cx="4775308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128" y="7400690"/>
            <a:ext cx="4918567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即使下游 IC 不顯著，此貢獻獨立可發表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89627" y="1356140"/>
            <a:ext cx="5308654" cy="6602105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1E3A8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9627" y="1356140"/>
            <a:ext cx="5308654" cy="7504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756255" y="1659749"/>
            <a:ext cx="708223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3900" dirty="0"/>
          </a:p>
        </p:txBody>
      </p:sp>
      <p:sp>
        <p:nvSpPr>
          <p:cNvPr id="18" name="Shape 16"/>
          <p:cNvSpPr/>
          <p:nvPr/>
        </p:nvSpPr>
        <p:spPr>
          <a:xfrm>
            <a:off x="7521593" y="1685726"/>
            <a:ext cx="990564" cy="443237"/>
          </a:xfrm>
          <a:prstGeom prst="roundRect">
            <a:avLst>
              <a:gd name="adj" fmla="val 17192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673993" y="1742876"/>
            <a:ext cx="761964" cy="36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56255" y="2269313"/>
            <a:ext cx="4918660" cy="78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LLM-as-Formatter 混合架構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756255" y="3126473"/>
            <a:ext cx="4918660" cy="4039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負責格式化，評分由 KOL </a:t>
            </a:r>
            <a:r>
              <a:rPr lang="en-US" sz="18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歷史 WFE 外部化 </a:t>
            </a: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避開 LLM confidence 不可靠問題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756255" y="7242517"/>
            <a:ext cx="4775398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6756255" y="7400690"/>
            <a:ext cx="4918660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即使下游 IC 不顯著，此架構獨立可發表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026845" y="1356140"/>
            <a:ext cx="5308654" cy="6602105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1E3A8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026845" y="1356140"/>
            <a:ext cx="5308654" cy="7504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2293473" y="1659749"/>
            <a:ext cx="708223" cy="5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3900" dirty="0"/>
          </a:p>
        </p:txBody>
      </p:sp>
      <p:sp>
        <p:nvSpPr>
          <p:cNvPr id="27" name="Shape 25"/>
          <p:cNvSpPr/>
          <p:nvPr/>
        </p:nvSpPr>
        <p:spPr>
          <a:xfrm>
            <a:off x="13058810" y="1685726"/>
            <a:ext cx="990564" cy="443237"/>
          </a:xfrm>
          <a:prstGeom prst="roundRect">
            <a:avLst>
              <a:gd name="adj" fmla="val 17192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3211210" y="1742876"/>
            <a:ext cx="761964" cy="36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實證面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293473" y="2269313"/>
            <a:ext cx="4918660" cy="78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WFA-based KOL 篩選 ＋ 下游量化驗證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293473" y="3126473"/>
            <a:ext cx="4918660" cy="4039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WFE &gt; 0.5 入池門檻，量測 </a:t>
            </a:r>
            <a:r>
              <a:rPr lang="en-US" sz="18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IC vs Alpha101 </a:t>
            </a: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走完抽取到量化落地的完整鏈路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293473" y="7242517"/>
            <a:ext cx="4775398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12293473" y="7400690"/>
            <a:ext cx="4918660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incremental IC ≥ 0.03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" y="8186809"/>
            <a:ext cx="4546563" cy="1414318"/>
          </a:xfrm>
          <a:prstGeom prst="roundRect">
            <a:avLst>
              <a:gd name="adj" fmla="val 10776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219128" y="8665404"/>
            <a:ext cx="457128" cy="457128"/>
          </a:xfrm>
          <a:prstGeom prst="roundRect">
            <a:avLst>
              <a:gd name="adj" fmla="val 20837"/>
            </a:avLst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1181028" y="8665404"/>
            <a:ext cx="533328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866756" y="8541832"/>
            <a:ext cx="3454201" cy="413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結構化資料集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866756" y="8917059"/>
            <a:ext cx="3454201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筆人工標註 + 自動抽取擴充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727628" y="8186809"/>
            <a:ext cx="4546654" cy="1414318"/>
          </a:xfrm>
          <a:prstGeom prst="roundRect">
            <a:avLst>
              <a:gd name="adj" fmla="val 10776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94255" y="8665404"/>
            <a:ext cx="457128" cy="457128"/>
          </a:xfrm>
          <a:prstGeom prst="roundRect">
            <a:avLst>
              <a:gd name="adj" fmla="val 20837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5956155" y="8665404"/>
            <a:ext cx="533328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6641883" y="8377309"/>
            <a:ext cx="3466744" cy="413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方法論 + Pipeline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6641883" y="8752536"/>
            <a:ext cx="3466744" cy="69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LLM-as-Formatter 抽取 + WFA-based 篩選框架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502845" y="8186809"/>
            <a:ext cx="4546654" cy="1414318"/>
          </a:xfrm>
          <a:prstGeom prst="roundRect">
            <a:avLst>
              <a:gd name="adj" fmla="val 10776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1E3A8A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769473" y="8665404"/>
            <a:ext cx="457128" cy="457128"/>
          </a:xfrm>
          <a:prstGeom prst="roundRect">
            <a:avLst>
              <a:gd name="adj" fmla="val 20837"/>
            </a:avLst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10731373" y="8665404"/>
            <a:ext cx="533328" cy="495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417101" y="8377309"/>
            <a:ext cx="3466744" cy="413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實證報告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11417101" y="8752536"/>
            <a:ext cx="3466744" cy="69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IC 量測 + Phase 1/2/3 完整回測結果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5468563" y="8586300"/>
            <a:ext cx="1676436" cy="61533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15773363" y="8700600"/>
            <a:ext cx="1143036" cy="42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謝謝老師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848</Words>
  <Application>Microsoft Office PowerPoint</Application>
  <PresentationFormat>自訂</PresentationFormat>
  <Paragraphs>185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Po-Han Shih</cp:lastModifiedBy>
  <cp:revision>3</cp:revision>
  <dcterms:created xsi:type="dcterms:W3CDTF">2026-04-24T05:37:45Z</dcterms:created>
  <dcterms:modified xsi:type="dcterms:W3CDTF">2026-04-24T05:39:18Z</dcterms:modified>
</cp:coreProperties>
</file>