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560" y="-3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0" y="151200"/>
            <a:ext cx="827999" cy="82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38000" y="151200"/>
            <a:ext cx="540000" cy="5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" y="198000"/>
            <a:ext cx="5112000" cy="72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Chinese Financial KOL Opinions as a Stock-Selection Factor: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Testing Incremental Information over Alpha101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000799"/>
            <a:ext cx="3240000" cy="206477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Po-Han Shih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6000" y="1015200"/>
            <a:ext cx="2484000" cy="183394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Advisor: Prof. Po-Wen Chi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1252800"/>
            <a:ext cx="6858000" cy="0"/>
          </a:xfrm>
          <a:prstGeom prst="bentConnector3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0000" y="1368000"/>
            <a:ext cx="979200" cy="558000"/>
          </a:xfrm>
          <a:prstGeom prst="rect">
            <a:avLst/>
          </a:prstGeom>
          <a:solidFill>
            <a:srgbClr val="1A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0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KOL Posts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FB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66400" y="1582200"/>
            <a:ext cx="108000" cy="12960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81600" y="1368000"/>
            <a:ext cx="979200" cy="558000"/>
          </a:xfrm>
          <a:prstGeom prst="rect">
            <a:avLst/>
          </a:prstGeom>
          <a:solidFill>
            <a:srgbClr val="1F7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96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LLM-as-Formatter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format, no scoring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68000" y="1582200"/>
            <a:ext cx="108000" cy="12960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83200" y="1368000"/>
            <a:ext cx="979200" cy="558000"/>
          </a:xfrm>
          <a:prstGeom prst="rect">
            <a:avLst/>
          </a:prstGeom>
          <a:solidFill>
            <a:srgbClr val="1A9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12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4-Field Schema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{t,id,dir,w}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69600" y="1582200"/>
            <a:ext cx="108000" cy="12960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84800" y="1368000"/>
            <a:ext cx="979200" cy="558000"/>
          </a:xfrm>
          <a:prstGeom prst="rect">
            <a:avLst/>
          </a:prstGeom>
          <a:solidFill>
            <a:srgbClr val="0E8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8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Daily KOL Factor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f_kol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71200" y="1582200"/>
            <a:ext cx="108000" cy="12960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86400" y="1368000"/>
            <a:ext cx="979200" cy="558000"/>
          </a:xfrm>
          <a:prstGeom prst="rect">
            <a:avLst/>
          </a:prstGeom>
          <a:solidFill>
            <a:srgbClr val="8A2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44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Orthogonalize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remove Alpha101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72800" y="1582200"/>
            <a:ext cx="108000" cy="129600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88000" y="1368000"/>
            <a:ext cx="979200" cy="5580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6000" y="1368000"/>
            <a:ext cx="943200" cy="558000"/>
          </a:xfrm>
          <a:prstGeom prst="rect">
            <a:avLst/>
          </a:prstGeom>
          <a:noFill/>
        </p:spPr>
        <p:txBody>
          <a:bodyPr wrap="square" lIns="14400" tIns="7200" rIns="14400" bIns="72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Incremental IC</a:t>
            </a:r>
          </a:p>
          <a:p>
            <a:pPr algn="ctr">
              <a:spcBef>
                <a:spcPts val="100"/>
              </a:spcBef>
            </a:pPr>
            <a:r>
              <a:rPr sz="750" b="0" i="1">
                <a:solidFill>
                  <a:srgbClr val="EAE0E0"/>
                </a:solidFill>
                <a:latin typeface="Times New Roman"/>
                <a:ea typeface="PMingLiU"/>
                <a:cs typeface="Times New Roman"/>
              </a:rPr>
              <a:t>residual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" y="1969200"/>
            <a:ext cx="6498000" cy="198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9A2A2A"/>
                </a:solidFill>
                <a:latin typeface="Consolas"/>
                <a:ea typeface="Consolas"/>
                <a:cs typeface="Consolas"/>
              </a:rPr>
              <a:t>weight</a:t>
            </a:r>
            <a:r>
              <a:rPr sz="90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 = the KOL's walk-forward hit-rate on posts BEFORE this one (point-in-time, no look-ahead); direction is extracted by the LLM.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" y="2466000"/>
            <a:ext cx="3168000" cy="2592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4799" y="2466000"/>
            <a:ext cx="3060000" cy="259200"/>
          </a:xfrm>
          <a:prstGeom prst="rect">
            <a:avLst/>
          </a:prstGeom>
          <a:noFill/>
        </p:spPr>
        <p:txBody>
          <a:bodyPr wrap="square" tIns="7200" bIns="72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Motivation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" y="2768400"/>
            <a:ext cx="3168000" cy="1944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Retail traders make up </a:t>
            </a:r>
            <a:r>
              <a:rPr sz="10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~50%</a:t>
            </a: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 of TWSE turnover, and many follow financial KOLs. Prior work covers print advisories, sell-side analysts and TV pundits, but </a:t>
            </a:r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independent, unregulated online financial KOLs are under-explored</a:t>
            </a: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 — and, free of client / regulatory conflicts, form a relatively clean sample.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KOL posts are free text. Rather than quantify a KOL's causal </a:t>
            </a:r>
            <a:r>
              <a:rPr sz="1000" b="0" i="1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“influence”</a:t>
            </a: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, we treat KOL opinion as a </a:t>
            </a:r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stock-selection factor</a:t>
            </a:r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 and ask a testable question:</a:t>
            </a:r>
          </a:p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After removing known price-volume factors (Alpha101), does the KOL factor still predict returns?</a:t>
            </a:r>
            <a:r>
              <a:rPr sz="1000" b="0" i="1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  = new information, or just momentum repackaged?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" y="4950000"/>
            <a:ext cx="3168000" cy="2592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4799" y="4950000"/>
            <a:ext cx="3060000" cy="259200"/>
          </a:xfrm>
          <a:prstGeom prst="rect">
            <a:avLst/>
          </a:prstGeom>
          <a:noFill/>
        </p:spPr>
        <p:txBody>
          <a:bodyPr wrap="square" tIns="7200" bIns="72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Methodology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" y="5252400"/>
            <a:ext cx="3168000" cy="3160171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1F78B4"/>
                </a:solidFill>
                <a:latin typeface="Times New Roman"/>
                <a:ea typeface="PMingLiU"/>
                <a:cs typeface="Times New Roman"/>
              </a:rPr>
              <a:t>① LLM-as-Formatter (no scoring): 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free text → 4-field schema. The LLM only formats and disambiguates entities (</a:t>
            </a:r>
            <a:r>
              <a:rPr sz="1000" b="0" i="0" dirty="0" err="1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台積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 ≡ 2330 ≡ TSMC); it outputs no confidence score.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1A9541"/>
                </a:solidFill>
                <a:latin typeface="Times New Roman"/>
                <a:ea typeface="PMingLiU"/>
                <a:cs typeface="Times New Roman"/>
              </a:rPr>
              <a:t>② Walk-forward weight (point-in-time): 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weight = the KOL's hit-rate on posts BEFORE this one; estimated only with ≥ 30 prior signals, else 0.5. Strictly prevents look-ahead.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   weight = hits / n   (only prior signals)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1A1A2D"/>
                </a:solidFill>
                <a:latin typeface="Times New Roman"/>
                <a:ea typeface="PMingLiU"/>
                <a:cs typeface="Times New Roman"/>
              </a:rPr>
              <a:t>③ Aggregate into a daily KOL factor: 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pool recent KOL signals per stock → cross-sectional factor </a:t>
            </a:r>
            <a:r>
              <a:rPr sz="1000" b="0" i="0" dirty="0" err="1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f_kol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④ Incremental IC vs Alpha101 (core): 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cross-sectionally regress </a:t>
            </a:r>
            <a:r>
              <a:rPr sz="1000" b="0" i="0" dirty="0" err="1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f_kol</a:t>
            </a:r>
            <a:r>
              <a:rPr sz="1000" b="0" i="0" dirty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 on Alpha101, take the residual e (what Alpha101 cannot explain), and correlate e with forward returns.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 err="1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IC_incr</a:t>
            </a:r>
            <a:r>
              <a:rPr sz="950" b="0" i="0" dirty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950" b="0" i="0" dirty="0" err="1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corr</a:t>
            </a:r>
            <a:r>
              <a:rPr sz="950" b="0" i="0" dirty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( resid(</a:t>
            </a:r>
            <a:r>
              <a:rPr sz="950" b="0" i="0" dirty="0" err="1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f_kol</a:t>
            </a:r>
            <a:r>
              <a:rPr sz="950" b="0" i="0" dirty="0">
                <a:solidFill>
                  <a:srgbClr val="1A1A2D"/>
                </a:solidFill>
                <a:latin typeface="Consolas"/>
                <a:ea typeface="Consolas"/>
                <a:cs typeface="Consolas"/>
              </a:rPr>
              <a:t> | Alpha101), ret 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 dirty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→ remains → new information;  vanishes → just momentum (an honest null result).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000" y="8820000"/>
            <a:ext cx="3168000" cy="2232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4799" y="8820000"/>
            <a:ext cx="3060000" cy="223200"/>
          </a:xfrm>
          <a:prstGeom prst="rect">
            <a:avLst/>
          </a:prstGeom>
          <a:noFill/>
        </p:spPr>
        <p:txBody>
          <a:bodyPr wrap="square" tIns="7200" bIns="72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9064800"/>
            <a:ext cx="3168000" cy="936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33333"/>
                </a:solidFill>
                <a:latin typeface="Times New Roman"/>
                <a:ea typeface="PMingLiU"/>
                <a:cs typeface="Times New Roman"/>
              </a:rPr>
              <a:t>[1] Kakushadze (2016). 101 Formulaic Alphas. Wilmott.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33333"/>
                </a:solidFill>
                <a:latin typeface="Times New Roman"/>
                <a:ea typeface="PMingLiU"/>
                <a:cs typeface="Times New Roman"/>
              </a:rPr>
              <a:t>[2] Pardo (2008). The Evaluation &amp; Optimization of Trading Strategies.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33333"/>
                </a:solidFill>
                <a:latin typeface="Times New Roman"/>
                <a:ea typeface="PMingLiU"/>
                <a:cs typeface="Times New Roman"/>
              </a:rPr>
              <a:t>[3] Bailey &amp; López de Prado (2014). The Deflated Sharpe Ratio.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33333"/>
                </a:solidFill>
                <a:latin typeface="Times New Roman"/>
                <a:ea typeface="PMingLiU"/>
                <a:cs typeface="Times New Roman"/>
              </a:rPr>
              <a:t>[4] Kakhbod et al. (2023). Finfluencers.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10000" y="2466000"/>
            <a:ext cx="3168000" cy="2592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74800" y="2466000"/>
            <a:ext cx="3060000" cy="259200"/>
          </a:xfrm>
          <a:prstGeom prst="rect">
            <a:avLst/>
          </a:prstGeom>
          <a:noFill/>
        </p:spPr>
        <p:txBody>
          <a:bodyPr wrap="square" tIns="7200" bIns="72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Experimental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0000" y="2761199"/>
            <a:ext cx="3168000" cy="198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PoC: 3 FB KOLs · </a:t>
            </a:r>
            <a:r>
              <a:rPr sz="10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1,685</a:t>
            </a:r>
            <a:r>
              <a:rPr sz="100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 opinions · </a:t>
            </a:r>
            <a:r>
              <a:rPr sz="100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404</a:t>
            </a:r>
            <a:r>
              <a:rPr sz="100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 tickers · 2024–2026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10000" y="2995200"/>
            <a:ext cx="3168000" cy="0"/>
          </a:xfrm>
          <a:prstGeom prst="bentConnector3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510000" y="3002400"/>
            <a:ext cx="1655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Method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000" y="3002400"/>
            <a:ext cx="503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hit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0000" y="3002400"/>
            <a:ext cx="540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0000" y="3002400"/>
            <a:ext cx="468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Sharpe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510000" y="3218400"/>
            <a:ext cx="3168000" cy="0"/>
          </a:xfrm>
          <a:prstGeom prst="bentConnector3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10000" y="3225599"/>
            <a:ext cx="1655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Direction-only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000" y="3225599"/>
            <a:ext cx="503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54.3%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0000" y="3225599"/>
            <a:ext cx="540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+0.045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000" y="3225599"/>
            <a:ext cx="468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+1.11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0000" y="3448800"/>
            <a:ext cx="1655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Walk-forward weighted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000" y="3448800"/>
            <a:ext cx="503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55.0%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0000" y="3448800"/>
            <a:ext cx="540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+0.097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0000" y="3448800"/>
            <a:ext cx="468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+0.97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0000" y="3671999"/>
            <a:ext cx="1655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High-confidence filter (Ours)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000" y="3671999"/>
            <a:ext cx="503999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57.9%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70000" y="3671999"/>
            <a:ext cx="540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0000" y="3671999"/>
            <a:ext cx="468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+1.65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10000" y="3888000"/>
            <a:ext cx="3168000" cy="0"/>
          </a:xfrm>
          <a:prstGeom prst="bentConnector3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510000" y="3909600"/>
            <a:ext cx="3168000" cy="18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Table 1. </a:t>
            </a:r>
            <a:r>
              <a:rPr sz="85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Three signal strategies; quality beats quantity.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10000" y="4168800"/>
            <a:ext cx="3168000" cy="0"/>
          </a:xfrm>
          <a:prstGeom prst="bentConnector3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510000" y="4176000"/>
            <a:ext cx="1584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weight quantile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94000" y="41760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86000" y="41760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hit rate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510000" y="4392000"/>
            <a:ext cx="3168000" cy="0"/>
          </a:xfrm>
          <a:prstGeom prst="bentConnector3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510000" y="4399200"/>
            <a:ext cx="1584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&lt; 0.45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4000" y="43992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276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86000" y="43992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49.3%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0000" y="4622400"/>
            <a:ext cx="1584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0.55 – 0.60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4000" y="46224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271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86000" y="46224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55.0%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10000" y="4845600"/>
            <a:ext cx="1584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l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&gt; 0.60 (Ours)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4000" y="48456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180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86000" y="4845600"/>
            <a:ext cx="792000" cy="223200"/>
          </a:xfrm>
          <a:prstGeom prst="rect">
            <a:avLst/>
          </a:prstGeom>
          <a:noFill/>
        </p:spPr>
        <p:txBody>
          <a:bodyPr wrap="square" lIns="21600" tIns="0" rIns="14400" bIns="0" anchor="ctr">
            <a:spAutoFit/>
          </a:bodyPr>
          <a:lstStyle/>
          <a:p>
            <a:pPr algn="ctr"/>
            <a:r>
              <a:rPr sz="1000" b="1" i="0">
                <a:solidFill>
                  <a:srgbClr val="9A2A2A"/>
                </a:solidFill>
                <a:latin typeface="Times New Roman"/>
                <a:ea typeface="PMingLiU"/>
                <a:cs typeface="Times New Roman"/>
              </a:rPr>
              <a:t>62.2%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510000" y="5061600"/>
            <a:ext cx="3168000" cy="0"/>
          </a:xfrm>
          <a:prstGeom prst="bentConnector3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510000" y="5083200"/>
            <a:ext cx="3168000" cy="18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Table 2. </a:t>
            </a:r>
            <a:r>
              <a:rPr sz="850" b="0" i="0">
                <a:solidFill>
                  <a:srgbClr val="444444"/>
                </a:solidFill>
                <a:latin typeface="Times New Roman"/>
                <a:ea typeface="PMingLiU"/>
                <a:cs typeface="Times New Roman"/>
              </a:rPr>
              <a:t>Hit-rate by weight quantile: 49% → 62%, monotonic.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10000" y="5547600"/>
            <a:ext cx="3168000" cy="259200"/>
          </a:xfrm>
          <a:prstGeom prst="rect">
            <a:avLst/>
          </a:prstGeom>
          <a:solidFill>
            <a:srgbClr val="9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574800" y="5547600"/>
            <a:ext cx="3060000" cy="259200"/>
          </a:xfrm>
          <a:prstGeom prst="rect">
            <a:avLst/>
          </a:prstGeom>
          <a:noFill/>
        </p:spPr>
        <p:txBody>
          <a:bodyPr wrap="square" tIns="7200" bIns="72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  <a:ea typeface="PMingLiU"/>
                <a:cs typeface="Times New Roman"/>
              </a:rPr>
              <a:t>Our Ideas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0000" y="5850000"/>
            <a:ext cx="3168000" cy="21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Turn “is the KOL just momentum?” into a falsifiable number. </a:t>
            </a:r>
            <a:r>
              <a:rPr sz="105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Incremental IC vs Alpha101 directly measures the KOL factor's increment over known price-volume factors (target ≥ 0.03 / ≥ 0.05).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Separation of duties + no look-ahead. </a:t>
            </a:r>
            <a:r>
              <a:rPr sz="105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The LLM only formats; scoring is externalized to historical walk-forward. Treating KOL as a factor (not “influence”) keeps conclusions strictly back-testable.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Positioning (honest). </a:t>
            </a:r>
            <a:r>
              <a:rPr sz="105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The methods are standard quant; the novelty is the sample — independent Traditional-Chinese KOLs — and bringing this rigor to an under-explored area.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Signal structure already emerging. </a:t>
            </a:r>
            <a:r>
              <a:rPr sz="1050" b="0" i="0">
                <a:solidFill>
                  <a:srgbClr val="000000"/>
                </a:solidFill>
                <a:latin typeface="Times New Roman"/>
                <a:ea typeface="PMingLiU"/>
                <a:cs typeface="Times New Roman"/>
              </a:rPr>
              <a:t>The PoC surfaced 4 anomalies: KOL skill does not transfer across markets; overconfidence underperforms; an alleged “contra-indicator” is really a lagged follower; long/short skill is asymmetric.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641</Words>
  <Application>Microsoft Office PowerPoint</Application>
  <PresentationFormat>自訂</PresentationFormat>
  <Paragraphs>72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Po-Han Shih</cp:lastModifiedBy>
  <cp:revision>4</cp:revision>
  <dcterms:created xsi:type="dcterms:W3CDTF">2013-01-27T09:14:16Z</dcterms:created>
  <dcterms:modified xsi:type="dcterms:W3CDTF">2026-06-15T03:59:46Z</dcterms:modified>
  <cp:category/>
</cp:coreProperties>
</file>