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999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0" y="576000"/>
            <a:ext cx="2664000" cy="2664000"/>
          </a:xfrm>
          <a:prstGeom prst="ellipse">
            <a:avLst/>
          </a:prstGeom>
          <a:noFill/>
          <a:ln w="38100">
            <a:solidFill>
              <a:srgbClr val="1A1A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440000" y="936000"/>
            <a:ext cx="1944000" cy="1944000"/>
          </a:xfrm>
          <a:prstGeom prst="ellipse">
            <a:avLst/>
          </a:prstGeom>
          <a:solidFill>
            <a:srgbClr val="1A1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0" y="936000"/>
            <a:ext cx="1944000" cy="1944000"/>
          </a:xfrm>
          <a:prstGeom prst="rect">
            <a:avLst/>
          </a:prstGeom>
          <a:noFill/>
        </p:spPr>
        <p:txBody>
          <a:bodyPr wrap="square" anchor="ctr" lIns="144000" rIns="144000" tIns="90000" bIns="9000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師大
資工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26855999" y="612000"/>
            <a:ext cx="2340000" cy="2340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855999" y="612000"/>
            <a:ext cx="2340000" cy="2340000"/>
          </a:xfrm>
          <a:prstGeom prst="rect">
            <a:avLst/>
          </a:prstGeom>
          <a:noFill/>
        </p:spPr>
        <p:txBody>
          <a:bodyPr wrap="square" anchor="ctr" lIns="144000" rIns="144000" tIns="90000" bIns="9000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4600" b="1" i="0">
                <a:solidFill>
                  <a:srgbClr val="1A1A2D"/>
                </a:solidFill>
                <a:latin typeface="Times New Roman"/>
                <a:ea typeface="Microsoft JhengHei"/>
                <a:cs typeface="Times New Roman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503999"/>
            <a:ext cx="21780000" cy="2376000"/>
          </a:xfrm>
          <a:prstGeom prst="rect">
            <a:avLst/>
          </a:prstGeom>
          <a:noFill/>
        </p:spPr>
        <p:txBody>
          <a:bodyPr wrap="square" anchor="ctr" lIns="144000" rIns="144000" tIns="90000" bIns="900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4600" b="1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中文財經 KOL 觀點作為選股因子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92232A"/>
                </a:solidFill>
                <a:latin typeface="Microsoft JhengHei"/>
                <a:ea typeface="Microsoft JhengHei"/>
                <a:cs typeface="Microsoft JhengHei"/>
              </a:rPr>
              <a:t>對 Alpha101 的增量資訊檢定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3024000"/>
            <a:ext cx="21780000" cy="1224000"/>
          </a:xfrm>
          <a:prstGeom prst="rect">
            <a:avLst/>
          </a:prstGeom>
          <a:noFill/>
        </p:spPr>
        <p:txBody>
          <a:bodyPr wrap="square" anchor="ctr" lIns="144000" rIns="144000" tIns="90000" bIns="900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0" i="1">
                <a:solidFill>
                  <a:srgbClr val="5C6B7A"/>
                </a:solidFill>
                <a:latin typeface="Times New Roman"/>
                <a:ea typeface="Microsoft JhengHei"/>
                <a:cs typeface="Times New Roman"/>
              </a:rPr>
              <a:t>Chinese Financial KOL Opinions as a Stock-Selection Factor: Incremental Information over Alpha101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202833"/>
                </a:solidFill>
                <a:latin typeface="Times New Roman"/>
                <a:ea typeface="Microsoft JhengHei"/>
                <a:cs typeface="Times New Roman"/>
              </a:rPr>
              <a:t>Po-Han Shih (施博瀚)</a:t>
            </a:r>
            <a:r>
              <a:rPr sz="2300" b="0" i="0">
                <a:solidFill>
                  <a:srgbClr val="5C6B7A"/>
                </a:solidFill>
                <a:latin typeface="Times New Roman"/>
                <a:ea typeface="Microsoft JhengHei"/>
                <a:cs typeface="Times New Roman"/>
              </a:rPr>
              <a:t>      Advisor: Prof. Po-Wen Chi (紀博文)      NTNU · Dept. of CSIE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0000" y="4500000"/>
            <a:ext cx="28115999" cy="50400"/>
          </a:xfrm>
          <a:prstGeom prst="rect">
            <a:avLst/>
          </a:prstGeom>
          <a:solidFill>
            <a:srgbClr val="1A1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80000" y="4824000"/>
            <a:ext cx="28115999" cy="5832000"/>
          </a:xfrm>
          <a:prstGeom prst="roundRect">
            <a:avLst>
              <a:gd name="adj" fmla="val 2000"/>
            </a:avLst>
          </a:prstGeom>
          <a:solidFill>
            <a:srgbClr val="F7F9FB"/>
          </a:solidFill>
          <a:ln w="15240">
            <a:solidFill>
              <a:srgbClr val="CF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6000" y="4932000"/>
            <a:ext cx="14400000" cy="720000"/>
          </a:xfrm>
          <a:prstGeom prst="rect">
            <a:avLst/>
          </a:prstGeom>
          <a:noFill/>
        </p:spPr>
        <p:txBody>
          <a:bodyPr wrap="square" anchor="t" lIns="144000" rIns="144000" tIns="90000" bIns="9000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400" b="1" i="0">
                <a:solidFill>
                  <a:srgbClr val="92232A"/>
                </a:solidFill>
                <a:latin typeface="Microsoft JhengHei"/>
                <a:ea typeface="Microsoft JhengHei"/>
                <a:cs typeface="Microsoft JhengHei"/>
              </a:rPr>
              <a:t>System Overview</a:t>
            </a:r>
            <a:r>
              <a:rPr sz="2200" b="1" i="0">
                <a:solidFill>
                  <a:srgbClr val="1A1A2D"/>
                </a:solidFill>
                <a:latin typeface="Microsoft JhengHei"/>
                <a:ea typeface="Microsoft JhengHei"/>
                <a:cs typeface="Microsoft JhengHei"/>
              </a:rPr>
              <a:t>　系統流程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32000" y="6552000"/>
            <a:ext cx="3960000" cy="2592000"/>
          </a:xfrm>
          <a:prstGeom prst="roundRect">
            <a:avLst>
              <a:gd name="adj" fmla="val 9000"/>
            </a:avLst>
          </a:prstGeom>
          <a:solidFill>
            <a:srgbClr val="1A1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2000" y="6552000"/>
            <a:ext cx="3960000" cy="2592000"/>
          </a:xfrm>
          <a:prstGeom prst="rect">
            <a:avLst/>
          </a:prstGeom>
          <a:noFill/>
        </p:spPr>
        <p:txBody>
          <a:bodyPr wrap="square" anchor="ctr" lIns="90000" rIns="90000" tIns="90000" bIns="900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KOL 貼文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2"/>
                </a:solidFill>
                <a:latin typeface="Microsoft JhengHei"/>
                <a:ea typeface="Microsoft JhengHei"/>
                <a:cs typeface="Microsoft JhengHei"/>
              </a:rPr>
              <a:t>FB Posts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82000" y="7488000"/>
            <a:ext cx="590399" cy="72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1A1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62399" y="6552000"/>
            <a:ext cx="3960000" cy="2592000"/>
          </a:xfrm>
          <a:prstGeom prst="roundRect">
            <a:avLst>
              <a:gd name="adj" fmla="val 9000"/>
            </a:avLst>
          </a:prstGeom>
          <a:solidFill>
            <a:srgbClr val="1F7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62399" y="6552000"/>
            <a:ext cx="3960000" cy="2592000"/>
          </a:xfrm>
          <a:prstGeom prst="rect">
            <a:avLst/>
          </a:prstGeom>
          <a:noFill/>
        </p:spPr>
        <p:txBody>
          <a:bodyPr wrap="square" anchor="ctr" lIns="90000" rIns="90000" tIns="90000" bIns="900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LLM-as-Formatter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2"/>
                </a:solidFill>
                <a:latin typeface="Microsoft JhengHei"/>
                <a:ea typeface="Microsoft JhengHei"/>
                <a:cs typeface="Microsoft JhengHei"/>
              </a:rPr>
              <a:t>格式化抽取 · 不評分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112399" y="7488000"/>
            <a:ext cx="590399" cy="72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1A1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792799" y="6552000"/>
            <a:ext cx="3960000" cy="2592000"/>
          </a:xfrm>
          <a:prstGeom prst="roundRect">
            <a:avLst>
              <a:gd name="adj" fmla="val 9000"/>
            </a:avLst>
          </a:prstGeom>
          <a:solidFill>
            <a:srgbClr val="1A9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92799" y="6552000"/>
            <a:ext cx="3960000" cy="2592000"/>
          </a:xfrm>
          <a:prstGeom prst="rect">
            <a:avLst/>
          </a:prstGeom>
          <a:noFill/>
        </p:spPr>
        <p:txBody>
          <a:bodyPr wrap="square" anchor="ctr" lIns="90000" rIns="90000" tIns="90000" bIns="900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 欄位 Schema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2"/>
                </a:solidFill>
                <a:latin typeface="Consolas"/>
                <a:ea typeface="Consolas"/>
                <a:cs typeface="Consolas"/>
              </a:rPr>
              <a:t>{t, id, dir, weight}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4842799" y="7488000"/>
            <a:ext cx="590399" cy="72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1A1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523199" y="6552000"/>
            <a:ext cx="3960000" cy="2592000"/>
          </a:xfrm>
          <a:prstGeom prst="roundRect">
            <a:avLst>
              <a:gd name="adj" fmla="val 9000"/>
            </a:avLst>
          </a:prstGeom>
          <a:solidFill>
            <a:srgbClr val="1A9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23199" y="6552000"/>
            <a:ext cx="3960000" cy="2592000"/>
          </a:xfrm>
          <a:prstGeom prst="rect">
            <a:avLst/>
          </a:prstGeom>
          <a:noFill/>
        </p:spPr>
        <p:txBody>
          <a:bodyPr wrap="square" anchor="ctr" lIns="90000" rIns="90000" tIns="90000" bIns="900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每日 KOL 因子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2"/>
                </a:solidFill>
                <a:latin typeface="Consolas"/>
                <a:ea typeface="Consolas"/>
                <a:cs typeface="Consolas"/>
              </a:rPr>
              <a:t>f_kol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9573199" y="7488000"/>
            <a:ext cx="590399" cy="72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1A1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0253599" y="6552000"/>
            <a:ext cx="3960000" cy="2592000"/>
          </a:xfrm>
          <a:prstGeom prst="roundRect">
            <a:avLst>
              <a:gd name="adj" fmla="val 9000"/>
            </a:avLst>
          </a:prstGeom>
          <a:solidFill>
            <a:srgbClr val="8A2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253599" y="6552000"/>
            <a:ext cx="3960000" cy="2592000"/>
          </a:xfrm>
          <a:prstGeom prst="rect">
            <a:avLst/>
          </a:prstGeom>
          <a:noFill/>
        </p:spPr>
        <p:txBody>
          <a:bodyPr wrap="square" anchor="ctr" lIns="90000" rIns="90000" tIns="90000" bIns="900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移除 Alpha101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2"/>
                </a:solidFill>
                <a:latin typeface="Microsoft JhengHei"/>
                <a:ea typeface="Microsoft JhengHei"/>
                <a:cs typeface="Microsoft JhengHei"/>
              </a:rPr>
              <a:t>橫斷面正交化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4303599" y="7488000"/>
            <a:ext cx="590399" cy="72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1A1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4983999" y="6552000"/>
            <a:ext cx="3960000" cy="2592000"/>
          </a:xfrm>
          <a:prstGeom prst="roundRect">
            <a:avLst>
              <a:gd name="adj" fmla="val 9000"/>
            </a:avLst>
          </a:prstGeom>
          <a:solidFill>
            <a:srgbClr val="9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983999" y="6552000"/>
            <a:ext cx="3960000" cy="2592000"/>
          </a:xfrm>
          <a:prstGeom prst="rect">
            <a:avLst/>
          </a:prstGeom>
          <a:noFill/>
        </p:spPr>
        <p:txBody>
          <a:bodyPr wrap="square" anchor="ctr" lIns="90000" rIns="90000" tIns="90000" bIns="900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Incremental IC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2"/>
                </a:solidFill>
                <a:latin typeface="Microsoft JhengHei"/>
                <a:ea typeface="Microsoft JhengHei"/>
                <a:cs typeface="Microsoft JhengHei"/>
              </a:rPr>
              <a:t>殘餘預測力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04000" y="9630000"/>
            <a:ext cx="288000" cy="288000"/>
          </a:xfrm>
          <a:prstGeom prst="rect">
            <a:avLst/>
          </a:prstGeom>
          <a:solidFill>
            <a:srgbClr val="1A1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45999" y="9450000"/>
            <a:ext cx="5580000" cy="612000"/>
          </a:xfrm>
          <a:prstGeom prst="rect">
            <a:avLst/>
          </a:prstGeom>
          <a:noFill/>
        </p:spPr>
        <p:txBody>
          <a:bodyPr wrap="square" anchor="t" lIns="144000" rIns="144000" tIns="90000" bIns="9000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800" b="0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輸入 KOL 文本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04800" y="9630000"/>
            <a:ext cx="288000" cy="288000"/>
          </a:xfrm>
          <a:prstGeom prst="rect">
            <a:avLst/>
          </a:prstGeom>
          <a:solidFill>
            <a:srgbClr val="1F7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46799" y="9450000"/>
            <a:ext cx="5580000" cy="612000"/>
          </a:xfrm>
          <a:prstGeom prst="rect">
            <a:avLst/>
          </a:prstGeom>
          <a:noFill/>
        </p:spPr>
        <p:txBody>
          <a:bodyPr wrap="square" anchor="t" lIns="144000" rIns="144000" tIns="90000" bIns="9000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800" b="0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LLM 抽取 direction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12000" y="9630000"/>
            <a:ext cx="288000" cy="288000"/>
          </a:xfrm>
          <a:prstGeom prst="rect">
            <a:avLst/>
          </a:prstGeom>
          <a:solidFill>
            <a:srgbClr val="1A9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3999" y="9450000"/>
            <a:ext cx="5580000" cy="612000"/>
          </a:xfrm>
          <a:prstGeom prst="rect">
            <a:avLst/>
          </a:prstGeom>
          <a:noFill/>
        </p:spPr>
        <p:txBody>
          <a:bodyPr wrap="square" anchor="t" lIns="144000" rIns="144000" tIns="90000" bIns="9000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800" b="0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結構化 → 因子化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12799" y="9630000"/>
            <a:ext cx="288000" cy="288000"/>
          </a:xfrm>
          <a:prstGeom prst="rect">
            <a:avLst/>
          </a:prstGeom>
          <a:solidFill>
            <a:srgbClr val="8A2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54799" y="9450000"/>
            <a:ext cx="5580000" cy="612000"/>
          </a:xfrm>
          <a:prstGeom prst="rect">
            <a:avLst/>
          </a:prstGeom>
          <a:noFill/>
        </p:spPr>
        <p:txBody>
          <a:bodyPr wrap="square" anchor="t" lIns="144000" rIns="144000" tIns="90000" bIns="9000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800" b="0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對 Alpha101 正交化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89600" y="9630000"/>
            <a:ext cx="288000" cy="288000"/>
          </a:xfrm>
          <a:prstGeom prst="rect">
            <a:avLst/>
          </a:prstGeom>
          <a:solidFill>
            <a:srgbClr val="9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31600" y="9450000"/>
            <a:ext cx="5580000" cy="612000"/>
          </a:xfrm>
          <a:prstGeom prst="rect">
            <a:avLst/>
          </a:prstGeom>
          <a:noFill/>
        </p:spPr>
        <p:txBody>
          <a:bodyPr wrap="square" anchor="t" lIns="144000" rIns="144000" tIns="90000" bIns="9000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800" b="0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增量 IC 檢定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6000" y="10080000"/>
            <a:ext cx="27683999" cy="576000"/>
          </a:xfrm>
          <a:prstGeom prst="rect">
            <a:avLst/>
          </a:prstGeom>
          <a:noFill/>
        </p:spPr>
        <p:txBody>
          <a:bodyPr wrap="square" anchor="t" lIns="144000" rIns="144000" tIns="90000" bIns="9000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900" b="1" i="0">
                <a:solidFill>
                  <a:srgbClr val="C06A10"/>
                </a:solidFill>
                <a:latin typeface="Consolas"/>
                <a:ea typeface="Consolas"/>
                <a:cs typeface="Consolas"/>
              </a:rPr>
              <a:t>weight</a:t>
            </a:r>
            <a:r>
              <a:rPr sz="1900" b="0" i="0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 = 該 KOL 發文「之前」的 walk-forward 歷史命中率（point-in-time，防 look-ahead）；direction 由 LLM 抽取。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80000" y="11304000"/>
            <a:ext cx="13517999" cy="1007999"/>
          </a:xfrm>
          <a:prstGeom prst="rect">
            <a:avLst/>
          </a:prstGeom>
          <a:solidFill>
            <a:srgbClr val="9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0000" y="11304000"/>
            <a:ext cx="13517999" cy="1007999"/>
          </a:xfrm>
          <a:prstGeom prst="rect">
            <a:avLst/>
          </a:prstGeom>
          <a:noFill/>
        </p:spPr>
        <p:txBody>
          <a:bodyPr wrap="square" anchor="ctr" lIns="251999" rIns="14400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Times New Roman"/>
                <a:ea typeface="Microsoft JhengHei"/>
                <a:cs typeface="Times New Roman"/>
              </a:rPr>
              <a:t>Motivation</a:t>
            </a:r>
            <a:r>
              <a:rPr sz="2100" b="1" i="0">
                <a:solidFill>
                  <a:srgbClr val="F0D8DA"/>
                </a:solidFill>
                <a:latin typeface="Microsoft JhengHei"/>
                <a:ea typeface="Microsoft JhengHei"/>
                <a:cs typeface="Microsoft JhengHei"/>
              </a:rPr>
              <a:t>　研究動機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0000" y="12564000"/>
            <a:ext cx="13517999" cy="8640000"/>
          </a:xfrm>
          <a:prstGeom prst="rect">
            <a:avLst/>
          </a:prstGeom>
          <a:noFill/>
        </p:spPr>
        <p:txBody>
          <a:bodyPr wrap="square" anchor="t" lIns="144000" rIns="144000" tIns="90000" bIns="90000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2500" b="0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台股散戶佔成交量約 </a:t>
            </a:r>
            <a:r>
              <a:rPr sz="2500" b="1" i="0">
                <a:solidFill>
                  <a:srgbClr val="1A1A2D"/>
                </a:solidFill>
                <a:latin typeface="Microsoft JhengHei"/>
                <a:ea typeface="Microsoft JhengHei"/>
                <a:cs typeface="Microsoft JhengHei"/>
              </a:rPr>
              <a:t>50%</a:t>
            </a:r>
            <a:r>
              <a:rPr sz="2500" b="0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，且大量散戶跟著財經 KOL 進出。過去研究覆蓋紙媒投顧、機構分析師、電視投顧，但</a:t>
            </a:r>
            <a:r>
              <a:rPr sz="2500" b="1" i="0">
                <a:solidFill>
                  <a:srgbClr val="1A1A2D"/>
                </a:solidFill>
                <a:latin typeface="Microsoft JhengHei"/>
                <a:ea typeface="Microsoft JhengHei"/>
                <a:cs typeface="Microsoft JhengHei"/>
              </a:rPr>
              <a:t>獨立、未受監管的網路財經 KOL 相對未被探索</a:t>
            </a:r>
            <a:r>
              <a:rPr sz="2500" b="0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，且無客戶/監管利益污染 —— 是相對乾淨的測試樣本。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2500" b="0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KOL 發文是自由文本，下游量化無法直接使用。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2500" b="1" i="0">
                <a:solidFill>
                  <a:srgbClr val="92232A"/>
                </a:solidFill>
                <a:latin typeface="Microsoft JhengHei"/>
                <a:ea typeface="Microsoft JhengHei"/>
                <a:cs typeface="Microsoft JhengHei"/>
              </a:rPr>
              <a:t>我們不試圖量化 KOL 對市場的因果「影響力」</a:t>
            </a:r>
            <a:r>
              <a:rPr sz="2500" b="0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（因果難以乾淨識別），改為把 KOL 觀點當成一個</a:t>
            </a:r>
            <a:r>
              <a:rPr sz="2500" b="1" i="0">
                <a:solidFill>
                  <a:srgbClr val="92232A"/>
                </a:solidFill>
                <a:latin typeface="Microsoft JhengHei"/>
                <a:ea typeface="Microsoft JhengHei"/>
                <a:cs typeface="Microsoft JhengHei"/>
              </a:rPr>
              <a:t>選股因子</a:t>
            </a:r>
            <a:r>
              <a:rPr sz="2500" b="0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，問一個可檢定的問題：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1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把 KOL 做成因子後，在扣掉已知價量因子（Alpha101）之後，它還有沒有預測力？</a:t>
            </a:r>
            <a:r>
              <a:rPr sz="2500" b="0" i="0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　＝ 帶來新資訊，還是只是動能的重新包裝？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0000" y="20880000"/>
            <a:ext cx="13517999" cy="1007999"/>
          </a:xfrm>
          <a:prstGeom prst="rect">
            <a:avLst/>
          </a:prstGeom>
          <a:solidFill>
            <a:srgbClr val="9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000" y="20880000"/>
            <a:ext cx="13517999" cy="1007999"/>
          </a:xfrm>
          <a:prstGeom prst="rect">
            <a:avLst/>
          </a:prstGeom>
          <a:noFill/>
        </p:spPr>
        <p:txBody>
          <a:bodyPr wrap="square" anchor="ctr" lIns="251999" rIns="14400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Times New Roman"/>
                <a:ea typeface="Microsoft JhengHei"/>
                <a:cs typeface="Times New Roman"/>
              </a:rPr>
              <a:t>Methodology</a:t>
            </a:r>
            <a:r>
              <a:rPr sz="2100" b="1" i="0">
                <a:solidFill>
                  <a:srgbClr val="F0D8DA"/>
                </a:solidFill>
                <a:latin typeface="Microsoft JhengHei"/>
                <a:ea typeface="Microsoft JhengHei"/>
                <a:cs typeface="Microsoft JhengHei"/>
              </a:rPr>
              <a:t>　方法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0000" y="22140000"/>
            <a:ext cx="13517999" cy="12240000"/>
          </a:xfrm>
          <a:prstGeom prst="rect">
            <a:avLst/>
          </a:prstGeom>
          <a:noFill/>
        </p:spPr>
        <p:txBody>
          <a:bodyPr wrap="square" anchor="t" lIns="144000" rIns="144000" tIns="90000" bIns="9000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500" b="1" i="0">
                <a:solidFill>
                  <a:srgbClr val="1F78B4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600" b="1" i="0">
                <a:solidFill>
                  <a:srgbClr val="1A1A2D"/>
                </a:solidFill>
                <a:latin typeface="Microsoft JhengHei"/>
                <a:ea typeface="Microsoft JhengHei"/>
                <a:cs typeface="Microsoft JhengHei"/>
              </a:rPr>
              <a:t>① LLM-as-Formatter · 不評分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00" b="0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自由文本 → 4 欄位 schema；LLM 只做格式化 + 實體消歧（台積 ≡ 2330 ≡ TSMC），不輸出信心分數。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2200" b="1" i="0">
                <a:solidFill>
                  <a:srgbClr val="1F78B4"/>
                </a:solidFill>
                <a:latin typeface="Microsoft JhengHei"/>
                <a:ea typeface="Microsoft JhengHei"/>
                <a:cs typeface="Microsoft JhengHei"/>
              </a:rPr>
              <a:t>→ </a:t>
            </a:r>
            <a:r>
              <a:rPr sz="2100" b="0" i="1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避開「LLM confidence 不可靠」問題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500" b="1" i="0">
                <a:solidFill>
                  <a:srgbClr val="1A9541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600" b="1" i="0">
                <a:solidFill>
                  <a:srgbClr val="1A1A2D"/>
                </a:solidFill>
                <a:latin typeface="Microsoft JhengHei"/>
                <a:ea typeface="Microsoft JhengHei"/>
                <a:cs typeface="Microsoft JhengHei"/>
              </a:rPr>
              <a:t>② Walk-forward 權重 · point-in-time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00" b="0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weight = 該 KOL 在該則發文「之前」的歷史命中率；最少 30 筆才估、不足給 0.5。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 i="0">
                <a:solidFill>
                  <a:srgbClr val="1A1A2D"/>
                </a:solidFill>
                <a:latin typeface="Consolas"/>
                <a:ea typeface="Consolas"/>
                <a:cs typeface="Consolas"/>
              </a:rPr>
              <a:t>weight = hits / n   (only prior signals)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2200" b="1" i="0">
                <a:solidFill>
                  <a:srgbClr val="1A9541"/>
                </a:solidFill>
                <a:latin typeface="Microsoft JhengHei"/>
                <a:ea typeface="Microsoft JhengHei"/>
                <a:cs typeface="Microsoft JhengHei"/>
              </a:rPr>
              <a:t>→ </a:t>
            </a:r>
            <a:r>
              <a:rPr sz="2100" b="0" i="1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嚴防 look-ahead bias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500" b="1" i="0">
                <a:solidFill>
                  <a:srgbClr val="1A1A2D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600" b="1" i="0">
                <a:solidFill>
                  <a:srgbClr val="1A1A2D"/>
                </a:solidFill>
                <a:latin typeface="Microsoft JhengHei"/>
                <a:ea typeface="Microsoft JhengHei"/>
                <a:cs typeface="Microsoft JhengHei"/>
              </a:rPr>
              <a:t>③ 聚合成每日 KOL 因子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2300" b="0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對每檔股票彙總近期 KOL 訊號，得到橫斷面因子 f_kol。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500" b="1" i="0">
                <a:solidFill>
                  <a:srgbClr val="C06A10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600" b="1" i="0">
                <a:solidFill>
                  <a:srgbClr val="1A1A2D"/>
                </a:solidFill>
                <a:latin typeface="Microsoft JhengHei"/>
                <a:ea typeface="Microsoft JhengHei"/>
                <a:cs typeface="Microsoft JhengHei"/>
              </a:rPr>
              <a:t>④ Incremental IC vs Alpha101 · 核心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00" b="0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橫斷面迴歸 f_kol ~ Alpha101 因子，取殘差 e（Alpha101 解釋不掉的部分），再算殘差對未來報酬的 IC。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 i="0">
                <a:solidFill>
                  <a:srgbClr val="1A1A2D"/>
                </a:solidFill>
                <a:latin typeface="Consolas"/>
                <a:ea typeface="Consolas"/>
                <a:cs typeface="Consolas"/>
              </a:rPr>
              <a:t>IC_incr = corr( resid(f_kol | Alpha101), ret )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2200" b="1" i="0">
                <a:solidFill>
                  <a:srgbClr val="C06A10"/>
                </a:solidFill>
                <a:latin typeface="Microsoft JhengHei"/>
                <a:ea typeface="Microsoft JhengHei"/>
                <a:cs typeface="Microsoft JhengHei"/>
              </a:rPr>
              <a:t>→ </a:t>
            </a:r>
            <a:r>
              <a:rPr sz="2100" b="0" i="1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剩 → 新資訊；不剩 → 只是動能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80000" y="34740000"/>
            <a:ext cx="13517999" cy="3960000"/>
          </a:xfrm>
          <a:prstGeom prst="roundRect">
            <a:avLst>
              <a:gd name="adj" fmla="val 3500"/>
            </a:avLst>
          </a:prstGeom>
          <a:solidFill>
            <a:srgbClr val="1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0000" y="34740000"/>
            <a:ext cx="13517999" cy="3960000"/>
          </a:xfrm>
          <a:prstGeom prst="rect">
            <a:avLst/>
          </a:prstGeom>
          <a:noFill/>
        </p:spPr>
        <p:txBody>
          <a:bodyPr wrap="square" anchor="ctr" lIns="288000" rIns="180000" tIns="90000" bIns="9000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900" b="0" i="0">
                <a:solidFill>
                  <a:srgbClr val="8AA4BE"/>
                </a:solidFill>
                <a:latin typeface="Consolas"/>
                <a:ea typeface="Consolas"/>
                <a:cs typeface="Consolas"/>
              </a:rPr>
              <a:t>// 每則 KOL 觀點 → 4 欄位 schema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 i="0">
                <a:solidFill>
                  <a:srgbClr val="E6ECF2"/>
                </a:solidFill>
                <a:latin typeface="Consolas"/>
                <a:ea typeface="Consolas"/>
                <a:cs typeface="Consolas"/>
              </a:rPr>
              <a:t>{ "timestamp"</a:t>
            </a:r>
            <a:r>
              <a:rPr sz="2100" b="0" i="0">
                <a:solidFill>
                  <a:srgbClr val="9ED3B0"/>
                </a:solidFill>
                <a:latin typeface="Consolas"/>
                <a:ea typeface="Consolas"/>
                <a:cs typeface="Consolas"/>
              </a:rPr>
              <a:t>: "2026-03-15T09:00+08:00",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 i="0">
                <a:solidFill>
                  <a:srgbClr val="E6ECF2"/>
                </a:solidFill>
                <a:latin typeface="Consolas"/>
                <a:ea typeface="Consolas"/>
                <a:cs typeface="Consolas"/>
              </a:rPr>
              <a:t>  "id"</a:t>
            </a:r>
            <a:r>
              <a:rPr sz="2100" b="0" i="0">
                <a:solidFill>
                  <a:srgbClr val="9ED3B0"/>
                </a:solidFill>
                <a:latin typeface="Consolas"/>
                <a:ea typeface="Consolas"/>
                <a:cs typeface="Consolas"/>
              </a:rPr>
              <a:t>: "2330",  </a:t>
            </a:r>
            <a:r>
              <a:rPr sz="2100" b="0" i="0">
                <a:solidFill>
                  <a:srgbClr val="E6ECF2"/>
                </a:solidFill>
                <a:latin typeface="Consolas"/>
                <a:ea typeface="Consolas"/>
                <a:cs typeface="Consolas"/>
              </a:rPr>
              <a:t>"direction"</a:t>
            </a:r>
            <a:r>
              <a:rPr sz="2100" b="0" i="0">
                <a:solidFill>
                  <a:srgbClr val="E2A33B"/>
                </a:solidFill>
                <a:latin typeface="Consolas"/>
                <a:ea typeface="Consolas"/>
                <a:cs typeface="Consolas"/>
              </a:rPr>
              <a:t>: +1,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0" i="0">
                <a:solidFill>
                  <a:srgbClr val="E6ECF2"/>
                </a:solidFill>
                <a:latin typeface="Consolas"/>
                <a:ea typeface="Consolas"/>
                <a:cs typeface="Consolas"/>
              </a:rPr>
              <a:t>  "weight"</a:t>
            </a:r>
            <a:r>
              <a:rPr sz="2100" b="0" i="0">
                <a:solidFill>
                  <a:srgbClr val="E2A33B"/>
                </a:solidFill>
                <a:latin typeface="Consolas"/>
                <a:ea typeface="Consolas"/>
                <a:cs typeface="Consolas"/>
              </a:rPr>
              <a:t>: 0.65 }</a:t>
            </a:r>
            <a:r>
              <a:rPr sz="2100" b="0" i="0">
                <a:solidFill>
                  <a:srgbClr val="8AA4BE"/>
                </a:solidFill>
                <a:latin typeface="Consolas"/>
                <a:ea typeface="Consolas"/>
                <a:cs typeface="Consolas"/>
              </a:rPr>
              <a:t>   // walk-forward 命中率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677999" y="11304000"/>
            <a:ext cx="13517999" cy="1007999"/>
          </a:xfrm>
          <a:prstGeom prst="rect">
            <a:avLst/>
          </a:prstGeom>
          <a:solidFill>
            <a:srgbClr val="9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677999" y="11304000"/>
            <a:ext cx="13517999" cy="1007999"/>
          </a:xfrm>
          <a:prstGeom prst="rect">
            <a:avLst/>
          </a:prstGeom>
          <a:noFill/>
        </p:spPr>
        <p:txBody>
          <a:bodyPr wrap="square" anchor="ctr" lIns="251999" rIns="14400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Times New Roman"/>
                <a:ea typeface="Microsoft JhengHei"/>
                <a:cs typeface="Times New Roman"/>
              </a:rPr>
              <a:t>Experimental Results</a:t>
            </a:r>
            <a:r>
              <a:rPr sz="2100" b="1" i="0">
                <a:solidFill>
                  <a:srgbClr val="F0D8DA"/>
                </a:solidFill>
                <a:latin typeface="Microsoft JhengHei"/>
                <a:ea typeface="Microsoft JhengHei"/>
                <a:cs typeface="Microsoft JhengHei"/>
              </a:rPr>
              <a:t>　實驗結果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677999" y="12564000"/>
            <a:ext cx="13517999" cy="792000"/>
          </a:xfrm>
          <a:prstGeom prst="rect">
            <a:avLst/>
          </a:prstGeom>
          <a:noFill/>
        </p:spPr>
        <p:txBody>
          <a:bodyPr wrap="square" anchor="t" lIns="144000" rIns="144000" tIns="90000" bIns="9000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PoC：3 位 FB KOL · </a:t>
            </a:r>
            <a:r>
              <a:rPr sz="2200" b="1" i="0">
                <a:solidFill>
                  <a:srgbClr val="1A1A2D"/>
                </a:solidFill>
                <a:latin typeface="Microsoft JhengHei"/>
                <a:ea typeface="Microsoft JhengHei"/>
                <a:cs typeface="Microsoft JhengHei"/>
              </a:rPr>
              <a:t>1,685</a:t>
            </a:r>
            <a:r>
              <a:rPr sz="2200" b="0" i="0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 觀點 · </a:t>
            </a:r>
            <a:r>
              <a:rPr sz="2200" b="1" i="0">
                <a:solidFill>
                  <a:srgbClr val="1A1A2D"/>
                </a:solidFill>
                <a:latin typeface="Microsoft JhengHei"/>
                <a:ea typeface="Microsoft JhengHei"/>
                <a:cs typeface="Microsoft JhengHei"/>
              </a:rPr>
              <a:t>404</a:t>
            </a:r>
            <a:r>
              <a:rPr sz="2200" b="0" i="0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 標的 · 2024–2026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15677999" y="13500000"/>
          <a:ext cx="13518000" cy="32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7200"/>
                <a:gridCol w="2703600"/>
                <a:gridCol w="2703600"/>
                <a:gridCol w="2703600"/>
              </a:tblGrid>
              <a:tr h="810000">
                <a:tc>
                  <a:txBody>
                    <a:bodyPr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策略</a:t>
                      </a:r>
                    </a:p>
                  </a:txBody>
                  <a:tcPr marL="90000" marR="54000" marT="18000" marB="18000" anchor="ctr">
                    <a:solidFill>
                      <a:srgbClr val="1A1A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hit</a:t>
                      </a:r>
                    </a:p>
                  </a:txBody>
                  <a:tcPr marL="90000" marR="54000" marT="18000" marB="18000" anchor="ctr">
                    <a:solidFill>
                      <a:srgbClr val="1A1A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IC</a:t>
                      </a:r>
                    </a:p>
                  </a:txBody>
                  <a:tcPr marL="90000" marR="54000" marT="18000" marB="18000" anchor="ctr">
                    <a:solidFill>
                      <a:srgbClr val="1A1A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Sharpe</a:t>
                      </a:r>
                    </a:p>
                  </a:txBody>
                  <a:tcPr marL="90000" marR="54000" marT="18000" marB="18000" anchor="ctr">
                    <a:solidFill>
                      <a:srgbClr val="1A1A2D"/>
                    </a:solidFill>
                  </a:tcPr>
                </a:tc>
              </a:tr>
              <a:tr h="81000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028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 純方向</a:t>
                      </a:r>
                    </a:p>
                  </a:txBody>
                  <a:tcPr marL="90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>
                          <a:solidFill>
                            <a:srgbClr val="2028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54.3%</a:t>
                      </a:r>
                    </a:p>
                  </a:txBody>
                  <a:tcPr marL="90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>
                          <a:solidFill>
                            <a:srgbClr val="2028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+0.045</a:t>
                      </a:r>
                    </a:p>
                  </a:txBody>
                  <a:tcPr marL="90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>
                          <a:solidFill>
                            <a:srgbClr val="2028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+1.11</a:t>
                      </a:r>
                    </a:p>
                  </a:txBody>
                  <a:tcPr marL="90000" marR="54000" marT="18000" marB="18000" anchor="ctr">
                    <a:solidFill>
                      <a:srgbClr val="FFFFFF"/>
                    </a:solidFill>
                  </a:tcPr>
                </a:tc>
              </a:tr>
              <a:tr h="81000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028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 walk-forward 加權</a:t>
                      </a:r>
                    </a:p>
                  </a:txBody>
                  <a:tcPr marL="90000" marR="54000" marT="18000" marB="18000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>
                          <a:solidFill>
                            <a:srgbClr val="2028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55.0%</a:t>
                      </a:r>
                    </a:p>
                  </a:txBody>
                  <a:tcPr marL="90000" marR="54000" marT="18000" marB="18000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>
                          <a:solidFill>
                            <a:srgbClr val="2028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+0.097</a:t>
                      </a:r>
                    </a:p>
                  </a:txBody>
                  <a:tcPr marL="90000" marR="54000" marT="18000" marB="18000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>
                          <a:solidFill>
                            <a:srgbClr val="2028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+0.97</a:t>
                      </a:r>
                    </a:p>
                  </a:txBody>
                  <a:tcPr marL="90000" marR="54000" marT="18000" marB="18000" anchor="ctr">
                    <a:solidFill>
                      <a:srgbClr val="EEF2F6"/>
                    </a:solidFill>
                  </a:tcPr>
                </a:tc>
              </a:tr>
              <a:tr h="81000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9223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 高信心過濾</a:t>
                      </a:r>
                    </a:p>
                  </a:txBody>
                  <a:tcPr marL="90000" marR="54000" marT="18000" marB="18000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9223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57.9%</a:t>
                      </a:r>
                    </a:p>
                  </a:txBody>
                  <a:tcPr marL="90000" marR="54000" marT="18000" marB="18000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9223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90000" marR="54000" marT="18000" marB="18000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9223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+1.65</a:t>
                      </a:r>
                    </a:p>
                  </a:txBody>
                  <a:tcPr marL="90000" marR="54000" marT="18000" marB="18000" anchor="ctr">
                    <a:solidFill>
                      <a:srgbClr val="F8E6E6"/>
                    </a:solidFill>
                  </a:tcPr>
                </a:tc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15677999" y="16884000"/>
            <a:ext cx="13517999" cy="648000"/>
          </a:xfrm>
          <a:prstGeom prst="rect">
            <a:avLst/>
          </a:prstGeom>
          <a:noFill/>
        </p:spPr>
        <p:txBody>
          <a:bodyPr wrap="square" anchor="t" lIns="144000" rIns="144000" tIns="90000" bIns="90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表 1. </a:t>
            </a:r>
            <a:r>
              <a:rPr sz="2000" b="0" i="0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三種訊號策略比較（C＝品質壓倒數量，Sharpe 最佳）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15677999" y="17676000"/>
          <a:ext cx="13518000" cy="32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18280"/>
                <a:gridCol w="3649860"/>
                <a:gridCol w="3649860"/>
              </a:tblGrid>
              <a:tr h="810000">
                <a:tc>
                  <a:txBody>
                    <a:bodyPr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weight 分位</a:t>
                      </a:r>
                    </a:p>
                  </a:txBody>
                  <a:tcPr marL="90000" marR="54000" marT="18000" marB="18000" anchor="ctr">
                    <a:solidFill>
                      <a:srgbClr val="1A1A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</a:t>
                      </a:r>
                    </a:p>
                  </a:txBody>
                  <a:tcPr marL="90000" marR="54000" marT="18000" marB="18000" anchor="ctr">
                    <a:solidFill>
                      <a:srgbClr val="1A1A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hit rate</a:t>
                      </a:r>
                    </a:p>
                  </a:txBody>
                  <a:tcPr marL="90000" marR="54000" marT="18000" marB="18000" anchor="ctr">
                    <a:solidFill>
                      <a:srgbClr val="1A1A2D"/>
                    </a:solidFill>
                  </a:tcPr>
                </a:tc>
              </a:tr>
              <a:tr h="81000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028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&lt; 0.45</a:t>
                      </a:r>
                    </a:p>
                  </a:txBody>
                  <a:tcPr marL="90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>
                          <a:solidFill>
                            <a:srgbClr val="2028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276</a:t>
                      </a:r>
                    </a:p>
                  </a:txBody>
                  <a:tcPr marL="90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>
                          <a:solidFill>
                            <a:srgbClr val="2028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49.3%</a:t>
                      </a:r>
                    </a:p>
                  </a:txBody>
                  <a:tcPr marL="90000" marR="54000" marT="18000" marB="18000" anchor="ctr">
                    <a:solidFill>
                      <a:srgbClr val="FFFFFF"/>
                    </a:solidFill>
                  </a:tcPr>
                </a:tc>
              </a:tr>
              <a:tr h="81000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028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0.55–0.60</a:t>
                      </a:r>
                    </a:p>
                  </a:txBody>
                  <a:tcPr marL="90000" marR="54000" marT="18000" marB="18000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>
                          <a:solidFill>
                            <a:srgbClr val="2028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271</a:t>
                      </a:r>
                    </a:p>
                  </a:txBody>
                  <a:tcPr marL="90000" marR="54000" marT="18000" marB="18000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>
                          <a:solidFill>
                            <a:srgbClr val="2028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55.0%</a:t>
                      </a:r>
                    </a:p>
                  </a:txBody>
                  <a:tcPr marL="90000" marR="54000" marT="18000" marB="18000" anchor="ctr">
                    <a:solidFill>
                      <a:srgbClr val="EEF2F6"/>
                    </a:solidFill>
                  </a:tcPr>
                </a:tc>
              </a:tr>
              <a:tr h="81000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9223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&gt; 0.60</a:t>
                      </a:r>
                    </a:p>
                  </a:txBody>
                  <a:tcPr marL="90000" marR="54000" marT="18000" marB="18000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9223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180</a:t>
                      </a:r>
                    </a:p>
                  </a:txBody>
                  <a:tcPr marL="90000" marR="54000" marT="18000" marB="18000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9223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62.2%</a:t>
                      </a:r>
                    </a:p>
                  </a:txBody>
                  <a:tcPr marL="90000" marR="54000" marT="18000" marB="18000" anchor="ctr">
                    <a:solidFill>
                      <a:srgbClr val="F8E6E6"/>
                    </a:solidFill>
                  </a:tcPr>
                </a:tc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15677999" y="21060000"/>
            <a:ext cx="13517999" cy="936000"/>
          </a:xfrm>
          <a:prstGeom prst="rect">
            <a:avLst/>
          </a:prstGeom>
          <a:noFill/>
        </p:spPr>
        <p:txBody>
          <a:bodyPr wrap="square" anchor="t" lIns="144000" rIns="144000" tIns="90000" bIns="900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000" b="1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表 2. </a:t>
            </a:r>
            <a:r>
              <a:rPr sz="2000" b="0" i="0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Walk-forward 權重分位的命中率：49% → 62% 單調遞增，證明權重有預測力。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677999" y="21996000"/>
            <a:ext cx="13517999" cy="792000"/>
          </a:xfrm>
          <a:prstGeom prst="rect">
            <a:avLst/>
          </a:prstGeom>
          <a:noFill/>
        </p:spPr>
        <p:txBody>
          <a:bodyPr wrap="square" anchor="t" lIns="144000" rIns="144000" tIns="90000" bIns="900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900" b="0" i="0">
                <a:solidFill>
                  <a:srgbClr val="C06A10"/>
                </a:solidFill>
                <a:latin typeface="Microsoft JhengHei"/>
                <a:ea typeface="Microsoft JhengHei"/>
                <a:cs typeface="Microsoft JhengHei"/>
              </a:rPr>
              <a:t>⚠ 註：上表為 </a:t>
            </a:r>
            <a:r>
              <a:rPr sz="1900" b="1" i="0">
                <a:solidFill>
                  <a:srgbClr val="C06A10"/>
                </a:solidFill>
                <a:latin typeface="Microsoft JhengHei"/>
                <a:ea typeface="Microsoft JhengHei"/>
                <a:cs typeface="Microsoft JhengHei"/>
              </a:rPr>
              <a:t>raw IC</a:t>
            </a:r>
            <a:r>
              <a:rPr sz="1900" b="0" i="0">
                <a:solidFill>
                  <a:srgbClr val="C06A10"/>
                </a:solidFill>
                <a:latin typeface="Microsoft JhengHei"/>
                <a:ea typeface="Microsoft JhengHei"/>
                <a:cs typeface="Microsoft JhengHei"/>
              </a:rPr>
              <a:t>，尚未扣 Alpha101；incremental IC（核心驗收）計算進行中。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677999" y="23075999"/>
            <a:ext cx="13517999" cy="1007999"/>
          </a:xfrm>
          <a:prstGeom prst="rect">
            <a:avLst/>
          </a:prstGeom>
          <a:solidFill>
            <a:srgbClr val="9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677999" y="23075999"/>
            <a:ext cx="13517999" cy="1007999"/>
          </a:xfrm>
          <a:prstGeom prst="rect">
            <a:avLst/>
          </a:prstGeom>
          <a:noFill/>
        </p:spPr>
        <p:txBody>
          <a:bodyPr wrap="square" anchor="ctr" lIns="251999" rIns="14400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Times New Roman"/>
                <a:ea typeface="Microsoft JhengHei"/>
                <a:cs typeface="Times New Roman"/>
              </a:rPr>
              <a:t>Our Ideas</a:t>
            </a:r>
            <a:r>
              <a:rPr sz="2100" b="1" i="0">
                <a:solidFill>
                  <a:srgbClr val="F0D8DA"/>
                </a:solidFill>
                <a:latin typeface="Microsoft JhengHei"/>
                <a:ea typeface="Microsoft JhengHei"/>
                <a:cs typeface="Microsoft JhengHei"/>
              </a:rPr>
              <a:t>　重點與定位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677999" y="24335999"/>
            <a:ext cx="13517999" cy="16164000"/>
          </a:xfrm>
          <a:prstGeom prst="rect">
            <a:avLst/>
          </a:prstGeom>
          <a:noFill/>
        </p:spPr>
        <p:txBody>
          <a:bodyPr wrap="square" anchor="t" lIns="144000" rIns="144000" tIns="90000" bIns="9000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400" b="1" i="0">
                <a:solidFill>
                  <a:srgbClr val="1A1A2D"/>
                </a:solidFill>
                <a:latin typeface="Microsoft JhengHei"/>
                <a:ea typeface="Microsoft JhengHei"/>
                <a:cs typeface="Microsoft JhengHei"/>
              </a:rPr>
              <a:t>把「KOL 是不是只是動能」變成可證偽的數字。</a:t>
            </a:r>
            <a:r>
              <a:rPr sz="2300" b="0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 Incremental IC vs Alpha101 直接量測 KOL 因子在已知價量因子之上的增量；目標 ≥ 0.03（baseline）／≥ 0.05（stretch）。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400" b="1" i="0">
                <a:solidFill>
                  <a:srgbClr val="1A1A2D"/>
                </a:solidFill>
                <a:latin typeface="Microsoft JhengHei"/>
                <a:ea typeface="Microsoft JhengHei"/>
                <a:cs typeface="Microsoft JhengHei"/>
              </a:rPr>
              <a:t>職責分離 + 防 look-ahead。</a:t>
            </a:r>
            <a:r>
              <a:rPr sz="2300" b="0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 LLM 只格式化、評分外部化給歷史 walk-forward；把 KOL 當「因子」而非量化「影響力」，使結論可嚴格回測。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400" b="1" i="0">
                <a:solidFill>
                  <a:srgbClr val="1A1A2D"/>
                </a:solidFill>
                <a:latin typeface="Microsoft JhengHei"/>
                <a:ea typeface="Microsoft JhengHei"/>
                <a:cs typeface="Microsoft JhengHei"/>
              </a:rPr>
              <a:t>定位（誠實）。</a:t>
            </a:r>
            <a:r>
              <a:rPr sz="2300" b="0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 方法（factor orthogonalization、WFA）是標準量化；新意在樣本 —— 繁中獨立 KOL —— 與把這套嚴謹度帶進這個少有人做的領域。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400" b="1" i="0">
                <a:solidFill>
                  <a:srgbClr val="1A1A2D"/>
                </a:solidFill>
                <a:latin typeface="Microsoft JhengHei"/>
                <a:ea typeface="Microsoft JhengHei"/>
                <a:cs typeface="Microsoft JhengHei"/>
              </a:rPr>
              <a:t>已浮現的訊號結構。</a:t>
            </a:r>
            <a:r>
              <a:rPr sz="2300" b="0" i="0">
                <a:solidFill>
                  <a:srgbClr val="202833"/>
                </a:solidFill>
                <a:latin typeface="Microsoft JhengHei"/>
                <a:ea typeface="Microsoft JhengHei"/>
                <a:cs typeface="Microsoft JhengHei"/>
              </a:rPr>
              <a:t> PoC 另發現 4 個 anomaly：KOL skill 不跨市場、過度自信反而較差、被當「反指標」者實為延遲跟隨、多空 skill 不對稱（→ 之後分 weight_long / weight_short）。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80000" y="40824000"/>
            <a:ext cx="28115999" cy="46800"/>
          </a:xfrm>
          <a:prstGeom prst="rect">
            <a:avLst/>
          </a:prstGeom>
          <a:solidFill>
            <a:srgbClr val="9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0000" y="40914000"/>
            <a:ext cx="28115999" cy="1584000"/>
          </a:xfrm>
          <a:prstGeom prst="rect">
            <a:avLst/>
          </a:prstGeom>
          <a:noFill/>
        </p:spPr>
        <p:txBody>
          <a:bodyPr wrap="square" anchor="t" lIns="144000" rIns="144000" tIns="90000" bIns="90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92232A"/>
                </a:solidFill>
                <a:latin typeface="Microsoft JhengHei"/>
                <a:ea typeface="Microsoft JhengHei"/>
                <a:cs typeface="Microsoft JhengHei"/>
              </a:rPr>
              <a:t>Reference</a:t>
            </a:r>
            <a:r>
              <a:rPr sz="1900" b="0" i="0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　參考文獻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0" i="0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[1] Kakushadze (2016). 101 Formulaic Alphas. Wilmott.　　[2] Pardo (2008). The Evaluation &amp; Optimization of Trading Strategies (Walk-Forward Analysis).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0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[3] Bailey &amp; López de Prado (2014). The Deflated Sharpe Ratio.　　[4] Kakhbod et al. (2023). Finfluencers. (finfluencer 因子化先驅)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